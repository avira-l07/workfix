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19a972a834850" /><Relationship Type="http://schemas.openxmlformats.org/officeDocument/2006/relationships/extended-properties" Target="/docProps/app.xml" Id="R05dfb3a015cd4b7a" /><Relationship Type="http://schemas.openxmlformats.org/officeDocument/2006/relationships/officeDocument" Target="/ppt/presentation.xml" Id="R33616f47c760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24fdeff0241cf"/>
  </p:sldMasterIdLst>
  <p:notesMasterIdLst>
    <p:notesMasterId xmlns:r="http://schemas.openxmlformats.org/officeDocument/2006/relationships" r:id="Re710b49e8a6849f6"/>
  </p:notesMasterIdLst>
  <p:sldIdLst>
    <p:sldId xmlns:r="http://schemas.openxmlformats.org/officeDocument/2006/relationships" id="256" r:id="R5e500a60f3ff49c8"/>
    <p:sldId xmlns:r="http://schemas.openxmlformats.org/officeDocument/2006/relationships" id="257" r:id="R77cc7925b6d742b7"/>
    <p:sldId xmlns:r="http://schemas.openxmlformats.org/officeDocument/2006/relationships" id="258" r:id="Rb47b20f5aae849b3"/>
    <p:sldId xmlns:r="http://schemas.openxmlformats.org/officeDocument/2006/relationships" id="259" r:id="R095d226d03f245b3"/>
    <p:sldId xmlns:r="http://schemas.openxmlformats.org/officeDocument/2006/relationships" id="260" r:id="R57786d8aac424eaf"/>
    <p:sldId xmlns:r="http://schemas.openxmlformats.org/officeDocument/2006/relationships" id="261" r:id="R3ee3155f634c40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3f4f94b0740a4" /><Relationship Type="http://schemas.openxmlformats.org/officeDocument/2006/relationships/slideMaster" Target="/ppt/slideMasters/slideMaster1.xml" Id="R85624fdeff0241cf" /><Relationship Type="http://schemas.openxmlformats.org/officeDocument/2006/relationships/notesMaster" Target="/ppt/notesMasters/notesMaster1.xml" Id="Re710b49e8a6849f6" /><Relationship Type="http://schemas.openxmlformats.org/officeDocument/2006/relationships/presProps" Target="/ppt/presProps.xml" Id="R3b8929fc46884a03" /><Relationship Type="http://schemas.openxmlformats.org/officeDocument/2006/relationships/viewProps" Target="/ppt/viewProps.xml" Id="Radbb3a3cc94e401f" /><Relationship Type="http://schemas.openxmlformats.org/officeDocument/2006/relationships/tableStyles" Target="/ppt/tableStyles.xml" Id="R7f8cb4caf01f49cf" /><Relationship Type="http://schemas.openxmlformats.org/officeDocument/2006/relationships/slide" Target="/ppt/slides/slide1.xml" Id="R5e500a60f3ff49c8" /><Relationship Type="http://schemas.openxmlformats.org/officeDocument/2006/relationships/slide" Target="/ppt/slides/slide2.xml" Id="R77cc7925b6d742b7" /><Relationship Type="http://schemas.openxmlformats.org/officeDocument/2006/relationships/slide" Target="/ppt/slides/slide3.xml" Id="Rb47b20f5aae849b3" /><Relationship Type="http://schemas.openxmlformats.org/officeDocument/2006/relationships/slide" Target="/ppt/slides/slide4.xml" Id="R095d226d03f245b3" /><Relationship Type="http://schemas.openxmlformats.org/officeDocument/2006/relationships/slide" Target="/ppt/slides/slide5.xml" Id="R57786d8aac424eaf" /><Relationship Type="http://schemas.openxmlformats.org/officeDocument/2006/relationships/slide" Target="/ppt/slides/slide6.xml" Id="R3ee3155f634c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e7ce6ac15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071247dbe434e" /><Relationship Type="http://schemas.openxmlformats.org/officeDocument/2006/relationships/notesMaster" Target="/ppt/notesMasters/notesMaster1.xml" Id="R72c304d6287e44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7cd0b25694baa" /><Relationship Type="http://schemas.openxmlformats.org/officeDocument/2006/relationships/notesMaster" Target="/ppt/notesMasters/notesMaster1.xml" Id="R0ddc24ec1eec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7bb9a069b8436e" /><Relationship Type="http://schemas.openxmlformats.org/officeDocument/2006/relationships/notesMaster" Target="/ppt/notesMasters/notesMaster1.xml" Id="R1178fc083221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7ac65b44a49a7" /><Relationship Type="http://schemas.openxmlformats.org/officeDocument/2006/relationships/notesMaster" Target="/ppt/notesMasters/notesMaster1.xml" Id="Rd54e3c49b60b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82c3ec24c34c3e" /><Relationship Type="http://schemas.openxmlformats.org/officeDocument/2006/relationships/notesMaster" Target="/ppt/notesMasters/notesMaster1.xml" Id="Re78ea5d1a8cd4d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76b0f015184580" /><Relationship Type="http://schemas.openxmlformats.org/officeDocument/2006/relationships/notesMaster" Target="/ppt/notesMasters/notesMaster1.xml" Id="Rc639d0b2607d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and six-slide SIH template retained from the user-provided source. Problem statement confirmed at https://sih.gov.in/sih2026PS (SIH26173). Team ID 165027 and GIT BIT retained as supplied. All project status is as of 5 October 2026. This is a prototype submission, not a certification of field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Primary requirement: https://sih.gov.in/sih2026PS. Architecture and results: D:/new itantra/docs/LANGUAGE_BENCHMARKS.md and docs/QUICK_STAT_SUMMARY.md. WER values are separate clean desktop 30-clip FLEURS samples per language; they do not establish Android accuracy or performance on noisy field speech. Kannada uses the latest corrected result. Dataset: https://huggingface.co/datasets/google/fleurs. Offline use requires initial model provisioning. Optional ML Kit translation cannot cover Odia/Malayalam pairs. Template photograph retained from supplied deck; no claim of a tested rescue deployment.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Implementation evidence: local Android source and docs/QUICK_STAT_SUMMARY.md. Runtime: https://k2-fsa.github.io/sherpa/onnx/index.html. Native Kotlin/Compose UI, Room/SQLCipher history, sherpa-onnx STT/TTS, Bluetooth RFCOMM and Wi-Fi Direct TCP. Peer verification uses ECDH, SAS and AES-GCM. These are implemented features; the complete two-phone offline audible demo and real-device resources remain unverified. Mesh, satellite and an external radio gateway are not implemented. Maximum-volume/non-interruptible SOS behavior still needs device validation.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Evidence: docs/LANGUAGE_BENCHMARKS.md, docs/QUICK_STAT_SUMMARY.md and the latest recorded app unit-test reports (454 tests, 0 failures). WER is 30 clean desktop clips/language; smaller is better. Marathi Piper mean synthesis latency is 181 ms over 30 phrases; this excludes playback, transport and Android overhead and is not a native-listener intelligibility score. Official evaluation at https://sih.gov.in/sih2026PS explicitly lists accuracy 40%, efficiency 20%, latency 20%; this deck does not invent the remaining allocation. Phone latency, RAM/CPU/battery, listener ratings and recorded two-phone demo are release gates. Photograph retained from the supplied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Pipeline reflects current app code. PTT-off processes speech segments after pauses; simultaneous full-duplex calling is not claimed. The lower row is a future validation sequence, not completed training/export. Tamil saved data passed leakage checks: 4,428 train / 555 dev clips, 123 / 14 speakers, 8.882 / 1.118 hours, 4,983 rows with zero overlaps/errors. GPU setup and model restore were verified in received Kaggle reports; baseline failed on float-format evaluation WAVs, reader repair is prepared and retry is pending. Training, improved WER, ONNX export, INT8 validation and signed release are not complete.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Primary sources: SIH https://sih.gov.in/sih2026PS; sherpa-onnx https://k2-fsa.github.io/sherpa/onnx/index.html; Tamil IndicConformer https://huggingface.co/ai4bharat/indicconformer_stt_ta_hybrid_ctc_rnnt_large; FLEURS https://huggingface.co/datasets/google/fleurs; Kathbath https://huggingface.co/datasets/ai4bharat/Kathbath. Local evidence: docs/LANGUAGE_BENCHMARKS.md, docs/QUICK_STAT_SUMMARY.md, docs/KATHBATH_TAMIL_PILOT.md, tools/stt_results/tamil-gate-b-datacheck-2026-10-05 and tools/stt_results/tamil-gate-b-float32-repair-2026-10-05. MMS-VITS, Piper voices and other model assets have differing licences; complete licence and redistribution review before release. No general improved WER or Android listener quality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e56cbcb654b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4467e9cab41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5c184984a48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72ec0214e42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d428aca3841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371bd00a04a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24f7a636a49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b0b7d45344b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4d4abd31b4de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ed8d7e01b4f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62532fb1d400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AED9A1-0EB9-4864-A40C-A1519CB667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FD2155-A78F-410F-9631-04EF6BB41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E022F9-74F8-4EA8-A05B-38CEEFC4BE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C5F1EE-5885-49CC-B710-6CC7BAC10A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E83740-DC7A-482F-893A-72E6AF610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024732-E795-41DD-8EDA-CC6D8C980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A88E65-B939-4397-8EB3-A971D1E8D2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CFE566-F1D9-43D5-A69B-3A64D08D93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569DBE-7166-4C18-833B-55BE81AC92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1C12F4-537C-406F-88F4-B33A08C4F7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C99EAF-384A-45F8-91C3-7C40E1154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5FB2DE-E371-4688-90C2-EC20DE6A9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DAE449-5FF9-494D-B15D-A3F17EFEE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54955-591D-45D3-BB1C-B661F5D43E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E31237-A163-4BB0-8088-BECB57CD3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2847B7-394A-405A-A7C7-082845AFA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6B3AB5-2C1A-4ED6-9935-820660EBC3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195638-FB3B-4C78-B8B7-348B77D96B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26F8B6-BFE5-4396-A6D3-8B4C72A6D3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B841D1-A3AA-4D74-9B43-F6783C7758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1B6510-C977-4928-9715-D77FDA0F7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C0E9DF-0B6C-400A-A579-3DDC6EFD3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B5CE-65B5-4DC3-A68D-06A91AABC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3CDF83-C93E-4670-93F0-3F499E80B0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3C51F84-AF4E-4854-B42A-E27750C0302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B2E4571-1AF2-4B4B-8DF2-50AEB6BB41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9AA3B0-3722-4CF6-B7DC-BA22E74515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3C45E2-DFF3-4F71-A56F-CB2C046105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68C735-D887-4A00-A022-ED14FC2E58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DBD975-5BFA-414E-B57F-0FE341AE6F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B96ABF-FB13-4A75-8132-B9F33F538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E95C8B-9315-4B1F-B321-1BF9116974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89A13A-1364-4CA7-852F-CB04A51966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F70A38-B23C-4DC6-BFA4-5EA3065FB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E6A11-C66B-4C27-AB15-A1C411451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E5EE0A-58B2-4961-A582-03CA592A5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39F29F-0915-46F5-A84A-3EED3DE82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425A4C-2DF9-4AD8-AC00-F6FA666E0F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8518EC-508E-46D5-B2EA-39B040EA89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EF7CD6-EEDA-499C-B658-68F986CEF6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FA97D0-5443-4970-AD68-99B99F7B9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BC4398-75E1-4056-A46A-62A7E6F8D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0B5C36-F4FF-42DE-B8E0-7CD270F5B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50FCA38-D49F-43B8-B7F2-1BF447D6C6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A76002-D0DF-4C27-8B5A-15791D12FD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DC4A79-8800-42E5-82B8-9E850C4F23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A70C07-62EC-4AEC-8A55-77F73E2964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497F45-8683-4A90-8FB9-63FEC527C4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91BE7-DD78-4105-9413-A76603908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2EAC08-363E-4325-902D-8986070AC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13B842-DE2C-4467-A7EC-F1831E8BF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C4BA9B-CCAC-47A0-9D74-966B57AA0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2F84AA-CBD3-4057-9EC0-67F9B3F9C5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4C3567-6CB0-488F-A378-8851FE98E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CC89C2-7463-4E6C-A46F-0A28289C6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6C6ABA-5A81-4C08-A7D9-31B6A82BA7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F26092-4BFD-4B3F-AF84-48BC99CB4B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90980E-CD4E-4F25-9B70-4628D3F345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d3ad93e7647f6" /><Relationship Type="http://schemas.openxmlformats.org/officeDocument/2006/relationships/slideLayout" Target="/ppt/slideLayouts/slideLayout1.xml" Id="R33199c32c2bd4532" /><Relationship Type="http://schemas.openxmlformats.org/officeDocument/2006/relationships/slideLayout" Target="/ppt/slideLayouts/slideLayout2.xml" Id="R15bd74b111574cd9" /><Relationship Type="http://schemas.openxmlformats.org/officeDocument/2006/relationships/slideLayout" Target="/ppt/slideLayouts/slideLayout3.xml" Id="R9d91e2f600794423" /><Relationship Type="http://schemas.openxmlformats.org/officeDocument/2006/relationships/slideLayout" Target="/ppt/slideLayouts/slideLayout4.xml" Id="R61f0daca25fb43d6" /><Relationship Type="http://schemas.openxmlformats.org/officeDocument/2006/relationships/slideLayout" Target="/ppt/slideLayouts/slideLayout5.xml" Id="Rd650f6e3e2f34da9" /><Relationship Type="http://schemas.openxmlformats.org/officeDocument/2006/relationships/slideLayout" Target="/ppt/slideLayouts/slideLayout6.xml" Id="Rb2bbda3384e84e36" /><Relationship Type="http://schemas.openxmlformats.org/officeDocument/2006/relationships/slideLayout" Target="/ppt/slideLayouts/slideLayout7.xml" Id="R3cdb6aa8bbe94484" /><Relationship Type="http://schemas.openxmlformats.org/officeDocument/2006/relationships/slideLayout" Target="/ppt/slideLayouts/slideLayout8.xml" Id="R4d31c8a4775a4809" /><Relationship Type="http://schemas.openxmlformats.org/officeDocument/2006/relationships/slideLayout" Target="/ppt/slideLayouts/slideLayout9.xml" Id="Rc65c7cc258894366" /><Relationship Type="http://schemas.openxmlformats.org/officeDocument/2006/relationships/slideLayout" Target="/ppt/slideLayouts/slideLayout10.xml" Id="R68b347fdc16b410b" /><Relationship Type="http://schemas.openxmlformats.org/officeDocument/2006/relationships/slideLayout" Target="/ppt/slideLayouts/slideLayout11.xml" Id="R345182ea91954b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265696-6BEA-43BF-BCCD-8457919A60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C1E3FF-22B6-4EAA-960B-2E3DF2D99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973E51-914C-4711-8B04-527AAE3847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851FD2-1335-4140-93B0-FCAC5B2C9E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32972-CD87-42AA-86DD-3465B42345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199c32c2bd4532"/>
    <p:sldLayoutId xmlns:r="http://schemas.openxmlformats.org/officeDocument/2006/relationships" id="2147483650" r:id="R15bd74b111574cd9"/>
    <p:sldLayoutId xmlns:r="http://schemas.openxmlformats.org/officeDocument/2006/relationships" id="2147483651" r:id="R9d91e2f600794423"/>
    <p:sldLayoutId xmlns:r="http://schemas.openxmlformats.org/officeDocument/2006/relationships" id="2147483652" r:id="R61f0daca25fb43d6"/>
    <p:sldLayoutId xmlns:r="http://schemas.openxmlformats.org/officeDocument/2006/relationships" id="2147483653" r:id="Rd650f6e3e2f34da9"/>
    <p:sldLayoutId xmlns:r="http://schemas.openxmlformats.org/officeDocument/2006/relationships" id="2147483654" r:id="Rb2bbda3384e84e36"/>
    <p:sldLayoutId xmlns:r="http://schemas.openxmlformats.org/officeDocument/2006/relationships" id="2147483655" r:id="R3cdb6aa8bbe94484"/>
    <p:sldLayoutId xmlns:r="http://schemas.openxmlformats.org/officeDocument/2006/relationships" id="2147483656" r:id="R4d31c8a4775a4809"/>
    <p:sldLayoutId xmlns:r="http://schemas.openxmlformats.org/officeDocument/2006/relationships" id="2147483657" r:id="Rc65c7cc258894366"/>
    <p:sldLayoutId xmlns:r="http://schemas.openxmlformats.org/officeDocument/2006/relationships" id="2147483658" r:id="R68b347fdc16b410b"/>
    <p:sldLayoutId xmlns:r="http://schemas.openxmlformats.org/officeDocument/2006/relationships" id="2147483659" r:id="R345182ea91954b93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02daac7b948e4" /><Relationship Type="http://schemas.openxmlformats.org/officeDocument/2006/relationships/image" Target="/ppt/media/image.png" Id="R0638a90a896b42ba" /><Relationship Type="http://schemas.openxmlformats.org/officeDocument/2006/relationships/image" Target="/ppt/media/image2.png" Id="Ra22cda9701fb4d53" /><Relationship Type="http://schemas.openxmlformats.org/officeDocument/2006/relationships/notesSlide" Target="/ppt/notesSlides/notesSlide1.xml" Id="Ra90c29cbd7d3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5cba0159b40aa" /><Relationship Type="http://schemas.openxmlformats.org/officeDocument/2006/relationships/image" Target="/ppt/media/image2.png" Id="R2bb74f997bf54f59" /><Relationship Type="http://schemas.openxmlformats.org/officeDocument/2006/relationships/image" Target="/ppt/media/image3.png" Id="R28cd5c886ec24007" /><Relationship Type="http://schemas.openxmlformats.org/officeDocument/2006/relationships/notesSlide" Target="/ppt/notesSlides/notesSlide2.xml" Id="Re9a7872a468b47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1ddc8dbcd4bf7" /><Relationship Type="http://schemas.openxmlformats.org/officeDocument/2006/relationships/image" Target="/ppt/media/image2.png" Id="Re7297720814945d6" /><Relationship Type="http://schemas.openxmlformats.org/officeDocument/2006/relationships/notesSlide" Target="/ppt/notesSlides/notesSlide3.xml" Id="R02419eb1ccb6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cd6cae6b5c4b2a" /><Relationship Type="http://schemas.openxmlformats.org/officeDocument/2006/relationships/image" Target="/ppt/media/image2.png" Id="Ra657dc50a9114dfc" /><Relationship Type="http://schemas.openxmlformats.org/officeDocument/2006/relationships/image" Target="/ppt/media/image4.png" Id="R19efa89d131f4c7c" /><Relationship Type="http://schemas.openxmlformats.org/officeDocument/2006/relationships/notesSlide" Target="/ppt/notesSlides/notesSlide4.xml" Id="Rca96b2953566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6f6d145034dc7" /><Relationship Type="http://schemas.openxmlformats.org/officeDocument/2006/relationships/image" Target="/ppt/media/image2.png" Id="R72f5474c74d54eac" /><Relationship Type="http://schemas.openxmlformats.org/officeDocument/2006/relationships/notesSlide" Target="/ppt/notesSlides/notesSlide5.xml" Id="R698e25e1ae6e4d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a69a143ad4641" /><Relationship Type="http://schemas.openxmlformats.org/officeDocument/2006/relationships/image" Target="/ppt/media/image2.png" Id="Rf650215174514979" /><Relationship Type="http://schemas.openxmlformats.org/officeDocument/2006/relationships/notesSlide" Target="/ppt/notesSlides/notesSlide6.xml" Id="R9ac5e56be62244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5289398-7452-4C70-B0C8-933EB4D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1F9BA91C-351E-4B05-91E4-7E75FC85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38a90a896b42ba"/>
          <a:srcRect xmlns:a="http://schemas.openxmlformats.org/drawingml/2006/main" l="0" t="0" r="599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B87B96DA-6FB9-4E1D-8CEB-7F676A75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3600" b="1" i="1" u="sng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iTantra</a:t>
            </a:r>
            <a:endParaRPr sz="3600" b="1" i="1" u="sng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A59C664B-1A78-48C1-9B81-A6A974B097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91440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2E56AA-0458-436F-8932-1880ACA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80" y="1560277"/>
            <a:ext cx="6286620" cy="4799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 ID – SIH26173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 Title- </a:t>
            </a:r>
            <a:r>
              <a:rPr b="1">
                <a:latin typeface="Arial"/>
                <a:ea typeface="Arial"/>
                <a:cs typeface="Arial"/>
              </a:rPr>
              <a:t>iTantra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Problem Statement- </a:t>
            </a:r>
            <a:r>
              <a:rPr b="1"/>
              <a:t>Indian Multilingual TTS &amp; STT Aided Neural Transceiver Radio Access for low bitrate links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Software Theme-Smart Automation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PS Category- Software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Team ID- 165027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b="1">
                <a:latin typeface="Arial"/>
                <a:ea typeface="Arial"/>
                <a:cs typeface="Arial"/>
              </a:rPr>
              <a:t>Team Name- GIT BIT</a:t>
            </a:r>
            <a:endParaRPr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cda9701fb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4827BF4-BB01-4E05-9EA4-8A274627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528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E45F6033-3AF0-4386-8979-FA0E0932A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2062D77A-7301-47E6-95D8-E7FF247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0" y="1395246"/>
            <a:ext cx="12191999" cy="16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None/>
            </a:pPr>
            <a:endParaRPr sz="2800"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527663-E139-4789-AC1F-FD779233F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C9AF95E-096C-41AD-AED6-332F62FD5C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74f997bf5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B474721-7BDB-4E03-84ED-3C219F3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THE PROBLEM + CORE INSIGHT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D9AA1-60F6-4ABB-8749-7BD10D15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3975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617284"/>
                </a:solidFill>
                <a:latin typeface="Inter"/>
                <a:ea typeface="Inter"/>
                <a:cs typeface="Inter"/>
              </a:rPr>
              <a:t>iTANTRA turns speech into text for a constrained link, then reconstructs speech on the receiving Android device.</a:t>
            </a:r>
            <a:endParaRPr sz="1150" b="0" i="0">
              <a:solidFill>
                <a:srgbClr val="617284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7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d5c886ec2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645920"/>
            <a:ext cx="4617720" cy="2331720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01D1E03-ACD7-4017-A7DF-6FE410D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4617720" cy="233172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7AEF98E-5CE4-4709-9F05-EC60343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47088"/>
            <a:ext cx="169164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9">
            <a:extLst xmlns:a="http://schemas.openxmlformats.org/drawingml/2006/main">
              <a:ext uri="{FF2B5EF4-FFF2-40B4-BE49-F238E27FC236}">
                <a16:creationId xmlns:a16="http://schemas.microsoft.com/office/drawing/2014/main" id="{2A0049BE-736C-4ADF-A75D-E048F2E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65376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FIELD / DISTRESS SCENARIO</a:t>
            </a:r>
            <a:endParaRPr sz="85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E2B547FA-6F92-4189-A025-1CDF2C5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2885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2A6F01-F77B-4AA7-9BC3-94BFE6C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60520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Continuous voice is data-heavy</a:t>
            </a:r>
            <a:endParaRPr sz="12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2BE8EC9-7CF3-41D1-B5EA-E1F6D21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71830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11F970-819C-4AE2-840B-373EC9F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590288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Low-bitrate links cannot carry rich audio reliably</a:t>
            </a:r>
            <a:endParaRPr sz="120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0219DE7-0779-4487-8120-53CFB46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572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71F86D-C1AD-4E25-9762-9020A79F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5029200"/>
            <a:ext cx="42245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Users still need spoken output for accessibility</a:t>
            </a:r>
            <a:endParaRPr sz="120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9FF6E0AF-2777-49D4-8DE2-636803A5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664208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ITANTRA APPROACH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2E0403-9346-4449-8238-15B7098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901952"/>
            <a:ext cx="58978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Keep </a:t>
            </a:r>
            <a:r>
              <a:rPr sz="1900" b="1">
                <a:solidFill>
                  <a:srgbClr val="0B74C8"/>
                </a:solidFill>
                <a:latin typeface="Inter"/>
                <a:ea typeface="Inter"/>
                <a:cs typeface="Inter"/>
              </a:rPr>
              <a:t>VOICE</a:t>
            </a: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 at both ends. Send only </a:t>
            </a:r>
            <a:r>
              <a:rPr sz="1900" b="1">
                <a:solidFill>
                  <a:srgbClr val="F36F21"/>
                </a:solidFill>
                <a:latin typeface="Inter"/>
                <a:ea typeface="Inter"/>
                <a:cs typeface="Inter"/>
              </a:rPr>
              <a:t>COMPACT TEXT</a:t>
            </a:r>
            <a:r>
              <a:rPr sz="19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 in between.</a:t>
            </a:r>
            <a:endParaRPr sz="1900" b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FA04E22-D4A4-4A18-8C1E-C2C1927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19">
            <a:extLst xmlns:a="http://schemas.openxmlformats.org/drawingml/2006/main">
              <a:ext uri="{FF2B5EF4-FFF2-40B4-BE49-F238E27FC236}">
                <a16:creationId xmlns:a16="http://schemas.microsoft.com/office/drawing/2014/main" id="{8F755D8E-27FB-4CDC-86E1-C495573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0E7A77-38B5-48E3-9977-8CCC9D9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F21AAF1B-4694-4B16-B989-8B826DDE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C53E47E-8080-425F-8039-5FF6F6C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3">
            <a:extLst xmlns:a="http://schemas.openxmlformats.org/drawingml/2006/main">
              <a:ext uri="{FF2B5EF4-FFF2-40B4-BE49-F238E27FC236}">
                <a16:creationId xmlns:a16="http://schemas.microsoft.com/office/drawing/2014/main" id="{3ED5063B-2D47-4654-855F-0110634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9AF02E0F-C2EA-4B3A-9AC5-8437B12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STT + pause
detection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DEE7E6DB-A79B-4CE7-AC4D-DA96DA9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A68A8994-04DB-4D29-8D74-05EE1AB7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27">
            <a:extLst xmlns:a="http://schemas.openxmlformats.org/drawingml/2006/main">
              <a:ext uri="{FF2B5EF4-FFF2-40B4-BE49-F238E27FC236}">
                <a16:creationId xmlns:a16="http://schemas.microsoft.com/office/drawing/2014/main" id="{09BA786B-0AA8-43AE-9566-FF39DBF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A5401D-0347-4F8E-BE49-CAF0D4A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Compact
text packet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977A3ED4-FACD-46BA-87D1-07324D8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F23D2811-D371-4F7D-BF28-0EF9F27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1">
            <a:extLst xmlns:a="http://schemas.openxmlformats.org/drawingml/2006/main">
              <a:ext uri="{FF2B5EF4-FFF2-40B4-BE49-F238E27FC236}">
                <a16:creationId xmlns:a16="http://schemas.microsoft.com/office/drawing/2014/main" id="{F7162393-EB4F-4751-8CC6-06CB6B15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9" name="TextBox 32">
            <a:extLst xmlns:a="http://schemas.openxmlformats.org/drawingml/2006/main">
              <a:ext uri="{FF2B5EF4-FFF2-40B4-BE49-F238E27FC236}">
                <a16:creationId xmlns:a16="http://schemas.microsoft.com/office/drawing/2014/main" id="{249A5B4B-0816-444E-9CCB-E4E4C26B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Wi‑Fi /
Bluetooth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1E50BDEF-ACF9-4C4E-BBD8-82B7D0A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64408"/>
            <a:ext cx="347471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88875D69-7A24-49B4-8C76-A4A2EEB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35">
            <a:extLst xmlns:a="http://schemas.openxmlformats.org/drawingml/2006/main">
              <a:ext uri="{FF2B5EF4-FFF2-40B4-BE49-F238E27FC236}">
                <a16:creationId xmlns:a16="http://schemas.microsoft.com/office/drawing/2014/main" id="{D0E1825D-13A6-4AA6-A1E0-E806C41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642AFC98-A74B-4FBB-BD92-C327A0A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TTS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1C775508-26C3-4DF2-8E5A-AA1E264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326440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FC5D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4C66F756-6A53-4039-83EC-56E4804A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9809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64F5955B-7712-463C-9BAC-C4AFD1F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108960"/>
            <a:ext cx="292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CC11C4FD-5A2F-4A15-9373-924FD804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4" y="3630168"/>
            <a:ext cx="71323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Voice</a:t>
            </a:r>
            <a:endParaRPr sz="94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8" name="TextBox 41">
            <a:extLst xmlns:a="http://schemas.openxmlformats.org/drawingml/2006/main">
              <a:ext uri="{FF2B5EF4-FFF2-40B4-BE49-F238E27FC236}">
                <a16:creationId xmlns:a16="http://schemas.microsoft.com/office/drawing/2014/main" id="{27F62363-1F79-4101-87A9-C96FE34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160520"/>
            <a:ext cx="5394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10 SELECTABLE LANGUAGE PACKS — DESKTOP WER SAMPLES</a:t>
            </a:r>
            <a:endParaRPr sz="10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D89FBE1-DFC2-4E10-8888-AB10362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9FC7CE2F-07B0-466E-ADCD-E7C6A50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Hindi 9.1%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E67D1A3C-7C1D-48C7-B962-2D78398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45">
            <a:extLst xmlns:a="http://schemas.openxmlformats.org/drawingml/2006/main">
              <a:ext uri="{FF2B5EF4-FFF2-40B4-BE49-F238E27FC236}">
                <a16:creationId xmlns:a16="http://schemas.microsoft.com/office/drawing/2014/main" id="{E27249C3-2370-4B94-8C81-04A28E3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Gujarati 18.54%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E79887DF-4C19-41B7-BF4A-6C571073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47">
            <a:extLst xmlns:a="http://schemas.openxmlformats.org/drawingml/2006/main">
              <a:ext uri="{FF2B5EF4-FFF2-40B4-BE49-F238E27FC236}">
                <a16:creationId xmlns:a16="http://schemas.microsoft.com/office/drawing/2014/main" id="{F6F76643-6C96-425F-9D30-4F20BFB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Marathi 15.70%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75D2F59-5E44-4678-BF02-073E88C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49">
            <a:extLst xmlns:a="http://schemas.openxmlformats.org/drawingml/2006/main">
              <a:ext uri="{FF2B5EF4-FFF2-40B4-BE49-F238E27FC236}">
                <a16:creationId xmlns:a16="http://schemas.microsoft.com/office/drawing/2014/main" id="{BA95D2A0-0957-4BE0-AC21-C3E09E9E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Kannada 17.23%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530E1691-6C13-4BD8-A493-1292EEE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526280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1">
            <a:extLst xmlns:a="http://schemas.openxmlformats.org/drawingml/2006/main">
              <a:ext uri="{FF2B5EF4-FFF2-40B4-BE49-F238E27FC236}">
                <a16:creationId xmlns:a16="http://schemas.microsoft.com/office/drawing/2014/main" id="{88C24A72-0BA0-4653-8F1C-6C9ED96B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4544568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Malayalam 28.91%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FBCF4D10-FEBB-489D-988D-0AEAC764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3">
            <a:extLst xmlns:a="http://schemas.openxmlformats.org/drawingml/2006/main">
              <a:ext uri="{FF2B5EF4-FFF2-40B4-BE49-F238E27FC236}">
                <a16:creationId xmlns:a16="http://schemas.microsoft.com/office/drawing/2014/main" id="{8974C036-E82F-4D04-A7F1-43E72A1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Tamil 21.8%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C8696A15-6993-4535-9D14-9A1432F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55">
            <a:extLst xmlns:a="http://schemas.openxmlformats.org/drawingml/2006/main">
              <a:ext uri="{FF2B5EF4-FFF2-40B4-BE49-F238E27FC236}">
                <a16:creationId xmlns:a16="http://schemas.microsoft.com/office/drawing/2014/main" id="{66E1E594-5B9F-472D-B59C-9A096257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Telugu 22.7%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E5330470-EE58-44B9-B2E7-A87942F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57">
            <a:extLst xmlns:a="http://schemas.openxmlformats.org/drawingml/2006/main">
              <a:ext uri="{FF2B5EF4-FFF2-40B4-BE49-F238E27FC236}">
                <a16:creationId xmlns:a16="http://schemas.microsoft.com/office/drawing/2014/main" id="{23FAD2F6-AB65-4F19-9754-3529A81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Odia 19.3%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AD18ADF-80D0-4ADB-8D18-CBD3E53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7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59">
            <a:extLst xmlns:a="http://schemas.openxmlformats.org/drawingml/2006/main">
              <a:ext uri="{FF2B5EF4-FFF2-40B4-BE49-F238E27FC236}">
                <a16:creationId xmlns:a16="http://schemas.microsoft.com/office/drawing/2014/main" id="{7CA5E3EE-FDAD-4AAA-A4D3-8590E0D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Bengali 14.36%</a:t>
            </a:r>
            <a:endParaRPr sz="86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6B9D7593-C289-45A2-82F6-D99D5C4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956048"/>
            <a:ext cx="987552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1">
            <a:extLst xmlns:a="http://schemas.openxmlformats.org/drawingml/2006/main">
              <a:ext uri="{FF2B5EF4-FFF2-40B4-BE49-F238E27FC236}">
                <a16:creationId xmlns:a16="http://schemas.microsoft.com/office/drawing/2014/main" id="{476D9580-2669-41F8-A1E7-B4B6794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4974336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English 6.9%</a:t>
            </a:r>
            <a:endParaRPr sz="86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9699B4F-5D51-4FAD-BD2C-950B51A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5468112"/>
            <a:ext cx="5852160" cy="7040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700">
            <a:solidFill>
              <a:srgbClr val="D5E6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3">
            <a:extLst xmlns:a="http://schemas.openxmlformats.org/drawingml/2006/main">
              <a:ext uri="{FF2B5EF4-FFF2-40B4-BE49-F238E27FC236}">
                <a16:creationId xmlns:a16="http://schemas.microsoft.com/office/drawing/2014/main" id="{26513550-F301-4B50-8566-DC6CC05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559552"/>
            <a:ext cx="14173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Benchmark scope:</a:t>
            </a:r>
            <a:endParaRPr sz="9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1" name="TextBox 64">
            <a:extLst xmlns:a="http://schemas.openxmlformats.org/drawingml/2006/main">
              <a:ext uri="{FF2B5EF4-FFF2-40B4-BE49-F238E27FC236}">
                <a16:creationId xmlns:a16="http://schemas.microsoft.com/office/drawing/2014/main" id="{50AF2CE5-FB27-4B6F-B92A-29839B6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513832"/>
            <a:ext cx="3886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30 clean clips per language; lower WER is better.</a:t>
            </a:r>
            <a:endParaRPr sz="106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2" name="TextBox 65">
            <a:extLst xmlns:a="http://schemas.openxmlformats.org/drawingml/2006/main">
              <a:ext uri="{FF2B5EF4-FFF2-40B4-BE49-F238E27FC236}">
                <a16:creationId xmlns:a16="http://schemas.microsoft.com/office/drawing/2014/main" id="{441193E9-5926-4888-83A6-0C957D4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779008"/>
            <a:ext cx="400507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617284"/>
                </a:solidFill>
                <a:latin typeface="Inter"/>
                <a:ea typeface="Inter"/>
                <a:cs typeface="Inter"/>
              </a:rPr>
              <a:t>Phone recognition and native-listener TTS checks remain pending.</a:t>
            </a:r>
            <a:endParaRPr sz="850" b="0" i="0">
              <a:solidFill>
                <a:srgbClr val="617284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5" name="TextBox 68">
            <a:extLst xmlns:a="http://schemas.openxmlformats.org/drawingml/2006/main">
              <a:ext uri="{FF2B5EF4-FFF2-40B4-BE49-F238E27FC236}">
                <a16:creationId xmlns:a16="http://schemas.microsoft.com/office/drawing/2014/main" id="{0C677AC3-A270-4634-961D-070589E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2/6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8DC71B2-55CA-4B4B-856A-7C6AA22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15363" name="TextBox 15362">
            <a:extLst xmlns:a="http://schemas.openxmlformats.org/drawingml/2006/main">
              <a:ext uri="{FF2B5EF4-FFF2-40B4-BE49-F238E27FC236}">
                <a16:creationId xmlns:a16="http://schemas.microsoft.com/office/drawing/2014/main" id="{E90196C4-4F56-4F20-9176-7BFC2B5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542032"/>
            <a:ext cx="589788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03040"/>
                </a:solidFill>
                <a:latin typeface="Inter"/>
                <a:ea typeface="Inter"/>
                <a:cs typeface="Inter"/>
              </a:rPr>
              <a:t>Local STT/TTS after model download. Direct Bluetooth / Wi-Fi Direct text transport; optional MT has language-pair limits.</a:t>
            </a:r>
          </a:p>
        </p:txBody>
      </p:sp>
    </p:spTree>
    <p:extLst>
      <p:ext uri="{BB962C8B-B14F-4D97-AF65-F5344CB8AC3E}">
        <p14:creationId xmlns:p14="http://schemas.microsoft.com/office/powerpoint/2010/main" val="265121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97720814945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1519" y="-40704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3D0971-1896-4F7E-8173-5028C2B0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4932"/>
            <a:ext cx="836676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CE37BA-3B75-4155-BB93-BE10982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B"/>
          </a:solidFill>
          <a:ln xmlns:a="http://schemas.openxmlformats.org/drawingml/2006/main">
            <a:solidFill>
              <a:srgbClr val="D6E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5">
            <a:extLst xmlns:a="http://schemas.openxmlformats.org/drawingml/2006/main">
              <a:ext uri="{FF2B5EF4-FFF2-40B4-BE49-F238E27FC236}">
                <a16:creationId xmlns:a16="http://schemas.microsoft.com/office/drawing/2014/main" id="{B3F5BD33-A5AF-4E74-BB8E-2D94089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9672"/>
            <a:ext cx="548640" cy="130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3</a:t>
            </a: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/6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7">
            <a:extLst xmlns:a="http://schemas.openxmlformats.org/drawingml/2006/main">
              <a:ext uri="{FF2B5EF4-FFF2-40B4-BE49-F238E27FC236}">
                <a16:creationId xmlns:a16="http://schemas.microsoft.com/office/drawing/2014/main" id="{6DF6B937-5C87-4705-8148-8509CBD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3502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Kotlin / Compose + sherpa-onnx: local speech processing and encrypted direct peer links.</a:t>
            </a:r>
            <a:endParaRPr sz="12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1A4685C-CD30-4A00-9BFC-214CE8B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105156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29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C216385-9FF4-440A-8AA1-2BBAC1FD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79" y="1920240"/>
            <a:ext cx="182880" cy="36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A5B9"/>
          </a:solidFill>
          <a:ln xmlns:a="http://schemas.openxmlformats.org/drawingml/2006/main">
            <a:solidFill>
              <a:srgbClr val="96A5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61D92D-A83A-4D54-831D-7654F1C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74620"/>
            <a:ext cx="868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NODE A</a:t>
            </a:r>
            <a:endParaRPr sz="15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9B3AEE-A290-4172-AE3C-D1519702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7812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478FE5D-19AF-4446-8A33-1E5E3EDD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828800"/>
            <a:ext cx="91440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29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012C71C6-ABF9-4A31-A7FA-EE0E2A9D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1920240"/>
            <a:ext cx="182880" cy="36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A5B9"/>
          </a:solidFill>
          <a:ln xmlns:a="http://schemas.openxmlformats.org/drawingml/2006/main">
            <a:solidFill>
              <a:srgbClr val="96A5B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D8AAC1-D42A-4BB0-9162-63ADA2D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267462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NODE B</a:t>
            </a:r>
            <a:endParaRPr sz="15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87F1FD-7959-4369-B109-44EF4EA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3067812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Android</a:t>
            </a:r>
            <a:endParaRPr sz="7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DE66779-D2D8-4BA0-A0B5-9206A6C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331720"/>
            <a:ext cx="914401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AA18A38-37A0-4775-BFE1-303A5DEF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691640"/>
            <a:ext cx="114300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8FF"/>
          </a:solidFill>
          <a:ln xmlns:a="http://schemas.openxmlformats.org/drawingml/2006/main" w="12700">
            <a:solidFill>
              <a:srgbClr val="BEDE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4498E9-6623-4960-9BFF-0CE310B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92807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STT</a:t>
            </a:r>
            <a:endParaRPr sz="18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TextBox 19">
            <a:extLst xmlns:a="http://schemas.openxmlformats.org/drawingml/2006/main">
              <a:ext uri="{FF2B5EF4-FFF2-40B4-BE49-F238E27FC236}">
                <a16:creationId xmlns:a16="http://schemas.microsoft.com/office/drawing/2014/main" id="{0D22C026-B2FF-4882-A3C5-E24EC9C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3317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Selected pack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87" name="Connector 20"/>
          <p:cNvCxnSpPr>
            <a:stCxn xmlns:a="http://schemas.openxmlformats.org/drawingml/2006/main" id="26" idx="3"/>
          </p:cNvCxnSpPr>
          <p:nvPr/>
        </p:nvCxnSpPr>
        <p:spPr>
          <a:xfrm xmlns:a="http://schemas.openxmlformats.org/drawingml/2006/main">
            <a:off x="3977640" y="2331720"/>
            <a:ext cx="73152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61551C3-D942-4858-8C98-50DEE5D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91640"/>
            <a:ext cx="132588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BF8"/>
          </a:solidFill>
          <a:ln xmlns:a="http://schemas.openxmlformats.org/drawingml/2006/main" w="12700">
            <a:solidFill>
              <a:srgbClr val="C8EB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0116D7-D480-4F6B-952D-4308DF6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892807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TXT</a:t>
            </a:r>
            <a:endParaRPr sz="180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TextBox 23">
            <a:extLst xmlns:a="http://schemas.openxmlformats.org/drawingml/2006/main">
              <a:ext uri="{FF2B5EF4-FFF2-40B4-BE49-F238E27FC236}">
                <a16:creationId xmlns:a16="http://schemas.microsoft.com/office/drawing/2014/main" id="{782974E4-09BD-40E2-BE57-1B576C9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331720"/>
            <a:ext cx="10241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compact packet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91" name="Connector 24"/>
          <p:cNvCxnSpPr>
            <a:stCxn xmlns:a="http://schemas.openxmlformats.org/drawingml/2006/main" id="30" idx="3"/>
          </p:cNvCxnSpPr>
          <p:nvPr/>
        </p:nvCxnSpPr>
        <p:spPr>
          <a:xfrm xmlns:a="http://schemas.openxmlformats.org/drawingml/2006/main">
            <a:off x="6080760" y="233172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C7166D2F-876B-47CB-889B-3C688205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81328"/>
            <a:ext cx="2057400" cy="1691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F4"/>
          </a:solidFill>
          <a:ln xmlns:a="http://schemas.openxmlformats.org/drawingml/2006/main" w="12700">
            <a:solidFill>
              <a:srgbClr val="FFDE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6847F5-26B8-4B78-A012-03BBFBA1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09928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EF6923"/>
                </a:solidFill>
                <a:latin typeface="Aptos"/>
                <a:ea typeface="Aptos"/>
                <a:cs typeface="Aptos"/>
              </a:rPr>
              <a:t>P2P LINK</a:t>
            </a:r>
            <a:endParaRPr sz="1600" b="1">
              <a:solidFill>
                <a:srgbClr val="EF69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TextBox 27">
            <a:extLst xmlns:a="http://schemas.openxmlformats.org/drawingml/2006/main">
              <a:ext uri="{FF2B5EF4-FFF2-40B4-BE49-F238E27FC236}">
                <a16:creationId xmlns:a16="http://schemas.microsoft.com/office/drawing/2014/main" id="{BBCB44C1-468A-4C09-A72D-5C59692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84831"/>
            <a:ext cx="1417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Bluetooth RFCOMM</a:t>
            </a:r>
            <a:br/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Wi‑Fi Direct TCP</a:t>
            </a:r>
            <a:br/>
            <a:r>
              <a:rPr sz="87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AES‑GCM secured</a:t>
            </a:r>
            <a:endParaRPr sz="87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11D312FC-F866-48CA-B2F8-EA904C7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553" y="2331720"/>
            <a:ext cx="429895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27B08F4D-4525-48B0-A014-790F352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691640"/>
            <a:ext cx="1051560" cy="1280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8FF"/>
          </a:solidFill>
          <a:ln xmlns:a="http://schemas.openxmlformats.org/drawingml/2006/main" w="12700">
            <a:solidFill>
              <a:srgbClr val="BEDE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0">
            <a:extLst xmlns:a="http://schemas.openxmlformats.org/drawingml/2006/main">
              <a:ext uri="{FF2B5EF4-FFF2-40B4-BE49-F238E27FC236}">
                <a16:creationId xmlns:a16="http://schemas.microsoft.com/office/drawing/2014/main" id="{56B6AB85-17F6-4CC0-B569-854B8C4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1892807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TTS</a:t>
            </a:r>
            <a:endParaRPr sz="18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540EF3-09A4-4B15-A29B-8EAAF1B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Selected voice</a:t>
            </a:r>
            <a:endParaRPr sz="85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TextBox 32">
            <a:extLst xmlns:a="http://schemas.openxmlformats.org/drawingml/2006/main">
              <a:ext uri="{FF2B5EF4-FFF2-40B4-BE49-F238E27FC236}">
                <a16:creationId xmlns:a16="http://schemas.microsoft.com/office/drawing/2014/main" id="{4FA42FD7-F55F-4C07-B793-D9A27DC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PROTOTYPE FEATURES</a:t>
            </a:r>
            <a:endParaRPr sz="1200" b="1">
              <a:solidFill>
                <a:srgbClr val="0076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Box 33">
            <a:extLst xmlns:a="http://schemas.openxmlformats.org/drawingml/2006/main">
              <a:ext uri="{FF2B5EF4-FFF2-40B4-BE49-F238E27FC236}">
                <a16:creationId xmlns:a16="http://schemas.microsoft.com/office/drawing/2014/main" id="{1CCFCD52-B817-4F28-8F50-7526EDC7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TextBox 34">
            <a:extLst xmlns:a="http://schemas.openxmlformats.org/drawingml/2006/main">
              <a:ext uri="{FF2B5EF4-FFF2-40B4-BE49-F238E27FC236}">
                <a16:creationId xmlns:a16="http://schemas.microsoft.com/office/drawing/2014/main" id="{D9F77EC3-72AC-4AEA-AD71-EC8C751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Local speech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TextBox 35">
            <a:extLst xmlns:a="http://schemas.openxmlformats.org/drawingml/2006/main">
              <a:ext uri="{FF2B5EF4-FFF2-40B4-BE49-F238E27FC236}">
                <a16:creationId xmlns:a16="http://schemas.microsoft.com/office/drawing/2014/main" id="{71F97355-EEE8-4858-B2AF-548FC8B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STT/TTS after model provisioning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TextBox 36">
            <a:extLst xmlns:a="http://schemas.openxmlformats.org/drawingml/2006/main">
              <a:ext uri="{FF2B5EF4-FFF2-40B4-BE49-F238E27FC236}">
                <a16:creationId xmlns:a16="http://schemas.microsoft.com/office/drawing/2014/main" id="{3E0A180B-56F4-42F6-AB34-3199DBA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TextBox 37">
            <a:extLst xmlns:a="http://schemas.openxmlformats.org/drawingml/2006/main">
              <a:ext uri="{FF2B5EF4-FFF2-40B4-BE49-F238E27FC236}">
                <a16:creationId xmlns:a16="http://schemas.microsoft.com/office/drawing/2014/main" id="{B50DEB7C-22A8-45C9-BD54-F6E0E9D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Text transport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TextBox 38">
            <a:extLst xmlns:a="http://schemas.openxmlformats.org/drawingml/2006/main">
              <a:ext uri="{FF2B5EF4-FFF2-40B4-BE49-F238E27FC236}">
                <a16:creationId xmlns:a16="http://schemas.microsoft.com/office/drawing/2014/main" id="{FD4E84BD-854D-4134-8AB2-FCB742D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79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Compact messages instead of audio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TextBox 39">
            <a:extLst xmlns:a="http://schemas.openxmlformats.org/drawingml/2006/main">
              <a:ext uri="{FF2B5EF4-FFF2-40B4-BE49-F238E27FC236}">
                <a16:creationId xmlns:a16="http://schemas.microsoft.com/office/drawing/2014/main" id="{4CAA7229-B8D2-461B-BB14-952B3A1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892040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TextBox 40">
            <a:extLst xmlns:a="http://schemas.openxmlformats.org/drawingml/2006/main">
              <a:ext uri="{FF2B5EF4-FFF2-40B4-BE49-F238E27FC236}">
                <a16:creationId xmlns:a16="http://schemas.microsoft.com/office/drawing/2014/main" id="{1457EECB-AC01-43AD-A3B8-98863BC0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9204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Speech modes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TextBox 41">
            <a:extLst xmlns:a="http://schemas.openxmlformats.org/drawingml/2006/main">
              <a:ext uri="{FF2B5EF4-FFF2-40B4-BE49-F238E27FC236}">
                <a16:creationId xmlns:a16="http://schemas.microsoft.com/office/drawing/2014/main" id="{05719E75-5319-4CEF-B70A-6FC7E12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01183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PTT and pause-delimited segments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TextBox 42">
            <a:extLst xmlns:a="http://schemas.openxmlformats.org/drawingml/2006/main">
              <a:ext uri="{FF2B5EF4-FFF2-40B4-BE49-F238E27FC236}">
                <a16:creationId xmlns:a16="http://schemas.microsoft.com/office/drawing/2014/main" id="{29F3C6E1-667C-47E6-B4C1-22E077D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TextBox 43">
            <a:extLst xmlns:a="http://schemas.openxmlformats.org/drawingml/2006/main">
              <a:ext uri="{FF2B5EF4-FFF2-40B4-BE49-F238E27FC236}">
                <a16:creationId xmlns:a16="http://schemas.microsoft.com/office/drawing/2014/main" id="{6A336EB2-5227-447D-8F30-548D2C3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Emergency alert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TextBox 44">
            <a:extLst xmlns:a="http://schemas.openxmlformats.org/drawingml/2006/main">
              <a:ext uri="{FF2B5EF4-FFF2-40B4-BE49-F238E27FC236}">
                <a16:creationId xmlns:a16="http://schemas.microsoft.com/office/drawing/2014/main" id="{A7E59E79-19AC-4449-86F5-C92E84C3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Four compact SOS codes + playback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TextBox 45">
            <a:extLst xmlns:a="http://schemas.openxmlformats.org/drawingml/2006/main">
              <a:ext uri="{FF2B5EF4-FFF2-40B4-BE49-F238E27FC236}">
                <a16:creationId xmlns:a16="http://schemas.microsoft.com/office/drawing/2014/main" id="{F1FA3737-60C3-42AD-8BF1-F0E99953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TextBox 46">
            <a:extLst xmlns:a="http://schemas.openxmlformats.org/drawingml/2006/main">
              <a:ext uri="{FF2B5EF4-FFF2-40B4-BE49-F238E27FC236}">
                <a16:creationId xmlns:a16="http://schemas.microsoft.com/office/drawing/2014/main" id="{C2B2EBFE-096A-496E-AAAD-0CD07A3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Encrypted peers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TextBox 47">
            <a:extLst xmlns:a="http://schemas.openxmlformats.org/drawingml/2006/main">
              <a:ext uri="{FF2B5EF4-FFF2-40B4-BE49-F238E27FC236}">
                <a16:creationId xmlns:a16="http://schemas.microsoft.com/office/drawing/2014/main" id="{F923EED3-112A-4EAB-9625-87C63A8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79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ECDH / SAS / AES-GCM session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TextBox 48">
            <a:extLst xmlns:a="http://schemas.openxmlformats.org/drawingml/2006/main">
              <a:ext uri="{FF2B5EF4-FFF2-40B4-BE49-F238E27FC236}">
                <a16:creationId xmlns:a16="http://schemas.microsoft.com/office/drawing/2014/main" id="{28CB8A17-4992-4157-A79B-B1951175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5385816"/>
            <a:ext cx="1645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009664"/>
                </a:solidFill>
                <a:latin typeface="Aptos"/>
                <a:ea typeface="Aptos"/>
                <a:cs typeface="Aptos"/>
              </a:rPr>
              <a:t>✓</a:t>
            </a:r>
            <a:endParaRPr sz="1220" b="1">
              <a:solidFill>
                <a:srgbClr val="0096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TextBox 49">
            <a:extLst xmlns:a="http://schemas.openxmlformats.org/drawingml/2006/main">
              <a:ext uri="{FF2B5EF4-FFF2-40B4-BE49-F238E27FC236}">
                <a16:creationId xmlns:a16="http://schemas.microsoft.com/office/drawing/2014/main" id="{D9BAD518-3D63-4011-9C33-370E88B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85816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172030"/>
                </a:solidFill>
                <a:latin typeface="Aptos"/>
                <a:ea typeface="Aptos"/>
                <a:cs typeface="Aptos"/>
              </a:rPr>
              <a:t>Local history</a:t>
            </a:r>
            <a:endParaRPr sz="1020" b="0">
              <a:solidFill>
                <a:srgbClr val="1720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TextBox 50">
            <a:extLst xmlns:a="http://schemas.openxmlformats.org/drawingml/2006/main">
              <a:ext uri="{FF2B5EF4-FFF2-40B4-BE49-F238E27FC236}">
                <a16:creationId xmlns:a16="http://schemas.microsoft.com/office/drawing/2014/main" id="{73256D67-8570-43E1-914F-FBF6DAF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94959"/>
            <a:ext cx="2148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70" b="0">
                <a:solidFill>
                  <a:srgbClr val="637081"/>
                </a:solidFill>
                <a:latin typeface="Aptos"/>
                <a:ea typeface="Aptos"/>
                <a:cs typeface="Aptos"/>
              </a:rPr>
              <a:t>Room / SQLCipher storage</a:t>
            </a:r>
            <a:endParaRPr sz="870" b="0">
              <a:solidFill>
                <a:srgbClr val="63708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F621947A-45E1-4B40-AA42-05A27DA9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89320"/>
            <a:ext cx="10515600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2700">
            <a:solidFill>
              <a:srgbClr val="C6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52">
            <a:extLst xmlns:a="http://schemas.openxmlformats.org/drawingml/2006/main">
              <a:ext uri="{FF2B5EF4-FFF2-40B4-BE49-F238E27FC236}">
                <a16:creationId xmlns:a16="http://schemas.microsoft.com/office/drawing/2014/main" id="{8EF8E87B-6ACF-4E99-A34F-42B5921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71616"/>
            <a:ext cx="10012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A2348"/>
                </a:solidFill>
                <a:latin typeface="Aptos"/>
                <a:ea typeface="Aptos"/>
                <a:cs typeface="Aptos"/>
              </a:rPr>
              <a:t>Pending validation: two-phone delivery • audible latency • Android RAM/CPU/battery • listener-rated TTS</a:t>
            </a:r>
            <a:endParaRPr sz="950" b="0">
              <a:solidFill>
                <a:srgbClr val="0A23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4E024218-A12A-4DA3-8D63-2E6FF6D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13" y="2458720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0076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BAD84120-0B8F-4F32-A74B-24DDC7A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3592D73-70A5-4280-B5CF-BD36691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637081"/>
                </a:solidFill>
                <a:latin typeface="Aptos"/>
                <a:ea typeface="Aptos"/>
                <a:cs typeface="Aptos"/>
              </a:rPr>
              <a:t>TECHNICAL APPROACH &amp; FEASIBILITY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2395E2C-47BA-467A-821B-51A4BBC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70332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RISKS &amp; MITIGATION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D368C31-12D4-4282-91F6-513848D2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Speech accuracy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Review transcripts and repeat errors; Tamil/Telugu improvements are still under evaluation.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54F54C51-7508-496D-B1BC-ACB4B74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Short range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Direct Bluetooth / Wi-Fi links with retry. Mesh and external radio gateways are future work.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B69D164B-0213-402E-BEB4-C8DC28A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Language packs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Download and load the selected pack. Model weights are separate from the APK.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AF0D289-60CC-43A7-BA67-02CBFD0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31920"/>
            <a:ext cx="2423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Device resources</a:t>
            </a:r>
          </a:p>
          <a:p xmlns:a="http://schemas.openxmlformats.org/drawingml/2006/main">
            <a:pPr algn="l">
              <a:buNone/>
            </a:pPr>
            <a:r>
              <a:rPr sz="750" b="1">
                <a:solidFill>
                  <a:srgbClr val="0076D2"/>
                </a:solidFill>
                <a:latin typeface="Aptos"/>
                <a:ea typeface="Aptos"/>
                <a:cs typeface="Aptos"/>
              </a:rPr>
              <a:t>VAD limits speech processing. Low/mid-range phone memory, CPU and battery tests are pending.</a:t>
            </a:r>
          </a:p>
        </p:txBody>
      </p:sp>
    </p:spTree>
    <p:extLst>
      <p:ext uri="{BB962C8B-B14F-4D97-AF65-F5344CB8AC3E}">
        <p14:creationId xmlns:p14="http://schemas.microsoft.com/office/powerpoint/2010/main" val="813358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DC2752-5130-4DD5-B6C0-0F77FB75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-59055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9BFF2C-E110-4D10-829F-77D5F7AE30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E07D4BA-98E6-4EF2-A055-5BA7FEF46C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7dc50a91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8533" y="-18723"/>
            <a:ext cx="1819192" cy="858988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1E64D3-2C54-46D1-96D8-A1EAD50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53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MEASURED STATUS + RELEASE GATES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13C36BC4-2255-4A2F-8406-CD173889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73" y="968756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CURRENT EVIDENCE — AND WHAT REMAINS</a:t>
            </a:r>
            <a:endParaRPr sz="2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41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fa89d131f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73352"/>
            <a:ext cx="4800600" cy="3310128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550EC11-79DB-43FE-B722-261ADF01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73352"/>
            <a:ext cx="4800600" cy="3310128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25E389B-3E45-49CD-A614-8ACF1D3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83664"/>
            <a:ext cx="19385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9">
            <a:extLst xmlns:a="http://schemas.openxmlformats.org/drawingml/2006/main">
              <a:ext uri="{FF2B5EF4-FFF2-40B4-BE49-F238E27FC236}">
                <a16:creationId xmlns:a16="http://schemas.microsoft.com/office/drawing/2014/main" id="{6107F9BD-5717-4CB1-AF1C-2024419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18470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REMOTE / LOW-CONNECTIVITY FIELD</a:t>
            </a:r>
            <a:endParaRPr sz="83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" name="TextBox 10">
            <a:extLst xmlns:a="http://schemas.openxmlformats.org/drawingml/2006/main">
              <a:ext uri="{FF2B5EF4-FFF2-40B4-BE49-F238E27FC236}">
                <a16:creationId xmlns:a16="http://schemas.microsoft.com/office/drawing/2014/main" id="{F9614B8A-7C7B-401C-9869-A96D005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19072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10 PACKS</a:t>
            </a:r>
            <a:endParaRPr sz="12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2138E4-19EC-4FB8-9AD4-3C27E7A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64208"/>
            <a:ext cx="411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9FB4C5"/>
                </a:solidFill>
                <a:latin typeface="Inter"/>
                <a:ea typeface="Inter"/>
                <a:cs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TextBox 12">
            <a:extLst xmlns:a="http://schemas.openxmlformats.org/drawingml/2006/main">
              <a:ext uri="{FF2B5EF4-FFF2-40B4-BE49-F238E27FC236}">
                <a16:creationId xmlns:a16="http://schemas.microsoft.com/office/drawing/2014/main" id="{5A1B0E0F-C7A6-4ABB-906C-1BCC601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719072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454 TESTS</a:t>
            </a:r>
            <a:endParaRPr sz="12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6FE6D717-8188-4D7A-9FE6-E07D7A78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664208"/>
            <a:ext cx="411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9FB4C5"/>
                </a:solidFill>
                <a:latin typeface="Inter"/>
                <a:ea typeface="Inter"/>
                <a:cs typeface="Inter"/>
              </a:rPr>
              <a:t>→</a:t>
            </a:r>
            <a:endParaRPr sz="2000" b="1" i="0">
              <a:solidFill>
                <a:srgbClr val="9FB4C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7F32C6-8C6B-42D0-AAD3-4ADDD34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719072"/>
            <a:ext cx="1554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PROTOTYPE</a:t>
            </a:r>
            <a:endParaRPr sz="120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" name="TextBox 15">
            <a:extLst xmlns:a="http://schemas.openxmlformats.org/drawingml/2006/main">
              <a:ext uri="{FF2B5EF4-FFF2-40B4-BE49-F238E27FC236}">
                <a16:creationId xmlns:a16="http://schemas.microsoft.com/office/drawing/2014/main" id="{87E76336-95E1-455D-A0B2-F97AFE5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21408"/>
            <a:ext cx="5230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454 unit tests passed in the latest recorded run. Recorded two-phone offline demonstration is pending.</a:t>
            </a:r>
            <a:endParaRPr sz="1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DF4ED3F6-949E-4201-A845-090C6618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7432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DESKTOP BENCHMARK RESULTS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2482D6C-28C9-456D-A5FA-93915F1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099816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18">
            <a:extLst xmlns:a="http://schemas.openxmlformats.org/drawingml/2006/main">
              <a:ext uri="{FF2B5EF4-FFF2-40B4-BE49-F238E27FC236}">
                <a16:creationId xmlns:a16="http://schemas.microsoft.com/office/drawing/2014/main" id="{8DC2DDBF-AC7F-44EA-B38F-39D72DA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18104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Hindi WER 9.1%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788CBEE-CE74-4730-8211-619DCD1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3099816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8A35A98D-D91E-4C0E-B789-C51E90C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118104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English WER 6.9%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BC161B2-8A93-415A-8AC4-88134DB8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99816"/>
            <a:ext cx="1517904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C0C00F-5792-4F05-8434-E775C8D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118104"/>
            <a:ext cx="14264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Tamil WER 21.8%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F57BEAE-4118-444D-B35A-59D1570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575304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EF3C258F-EA51-46DD-9E39-925CC6C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93592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Telugu WER 22.7%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528FC9A-8FAD-4C8E-A170-25EB061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3575304"/>
            <a:ext cx="1481328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26">
            <a:extLst xmlns:a="http://schemas.openxmlformats.org/drawingml/2006/main">
              <a:ext uri="{FF2B5EF4-FFF2-40B4-BE49-F238E27FC236}">
                <a16:creationId xmlns:a16="http://schemas.microsoft.com/office/drawing/2014/main" id="{9E3CD135-34B8-46E1-8579-C0074C0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3593592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Marathi TTS 181 ms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EB617DA9-057B-48B7-AF3C-9013F51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575304"/>
            <a:ext cx="1517904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2700">
            <a:solidFill>
              <a:srgbClr val="DFE9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43DB97-924C-468C-A00A-55135DC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593592"/>
            <a:ext cx="14264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4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Malayalam WER 28.91%</a:t>
            </a:r>
            <a:endParaRPr sz="84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5F367CD5-D243-43F1-9856-EC76390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75" y="4288790"/>
            <a:ext cx="5212080" cy="6762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0">
            <a:extLst xmlns:a="http://schemas.openxmlformats.org/drawingml/2006/main">
              <a:ext uri="{FF2B5EF4-FFF2-40B4-BE49-F238E27FC236}">
                <a16:creationId xmlns:a16="http://schemas.microsoft.com/office/drawing/2014/main" id="{635430DA-607D-4F00-8EB5-15D29BF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288536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MEASUREMENT SCOPE</a:t>
            </a:r>
            <a:endParaRPr sz="9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8" name="TextBox 31">
            <a:extLst xmlns:a="http://schemas.openxmlformats.org/drawingml/2006/main">
              <a:ext uri="{FF2B5EF4-FFF2-40B4-BE49-F238E27FC236}">
                <a16:creationId xmlns:a16="http://schemas.microsoft.com/office/drawing/2014/main" id="{94EB104C-70F6-4B4F-A6A9-C1EC497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507992"/>
            <a:ext cx="47000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WER: 30 clean clips/language. TTS: desktop mean synthesis time. Phone latency and listener ratings pending.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6135069-E4F5-47C3-BFCB-C5606733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05450"/>
            <a:ext cx="10789920" cy="7863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700">
            <a:solidFill>
              <a:srgbClr val="D8E7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3">
            <a:extLst xmlns:a="http://schemas.openxmlformats.org/drawingml/2006/main">
              <a:ext uri="{FF2B5EF4-FFF2-40B4-BE49-F238E27FC236}">
                <a16:creationId xmlns:a16="http://schemas.microsoft.com/office/drawing/2014/main" id="{693AB106-8366-4866-94A8-C3421EB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Accuracy 40%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TextBox 34">
            <a:extLst xmlns:a="http://schemas.openxmlformats.org/drawingml/2006/main">
              <a:ext uri="{FF2B5EF4-FFF2-40B4-BE49-F238E27FC236}">
                <a16:creationId xmlns:a16="http://schemas.microsoft.com/office/drawing/2014/main" id="{D93B112F-C7C2-405F-B983-C78723E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WER + listener checks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TextBox 35">
            <a:extLst xmlns:a="http://schemas.openxmlformats.org/drawingml/2006/main">
              <a:ext uri="{FF2B5EF4-FFF2-40B4-BE49-F238E27FC236}">
                <a16:creationId xmlns:a16="http://schemas.microsoft.com/office/drawing/2014/main" id="{1CBAC427-10C2-4DB7-BA86-7D9DC512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Efficiency 20%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43AFC570-E6EE-4315-A68C-8EC2AE46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APK / RAM / CPU tests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A1B195-9866-4EA1-9657-D30BE77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Latency 20%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" name="TextBox 38">
            <a:extLst xmlns:a="http://schemas.openxmlformats.org/drawingml/2006/main">
              <a:ext uri="{FF2B5EF4-FFF2-40B4-BE49-F238E27FC236}">
                <a16:creationId xmlns:a16="http://schemas.microsoft.com/office/drawing/2014/main" id="{C5D869DC-7322-47B1-A889-6FA42169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 + audible delay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C2076179-0298-45A5-A5D5-CAAE673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5458968"/>
            <a:ext cx="1261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Demo target</a:t>
            </a:r>
            <a:endParaRPr sz="102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6E3A4F-D903-4FDB-9F8A-8F017B67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5687568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Two-phone offline demo</a:t>
            </a:r>
            <a:endParaRPr sz="880" b="0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936483F8-A323-4C83-B2C1-BA350D4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4/6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24157B1-685B-4B8D-817B-5A29001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41136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732A56-47ED-4018-ACA5-30E3082554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AB6B47E-E4B8-426C-BC73-A6BFFE9F0C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7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5474c74d5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2400" y="41653"/>
            <a:ext cx="1793736" cy="846969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67E1C0E-7B44-4E3F-8C3C-A394612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4460"/>
            <a:ext cx="876109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929314-A6FA-43A4-A9F7-3308C0A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91707"/>
            <a:ext cx="3840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SYSTEM ARCHITECTURE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TextBox 2">
            <a:extLst xmlns:a="http://schemas.openxmlformats.org/drawingml/2006/main">
              <a:ext uri="{FF2B5EF4-FFF2-40B4-BE49-F238E27FC236}">
                <a16:creationId xmlns:a16="http://schemas.microsoft.com/office/drawing/2014/main" id="{280BD932-0AAA-41D9-ABDF-29B9EDA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94461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HOW iTANTRA WORKS — END TO END</a:t>
            </a:r>
            <a:endParaRPr sz="26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B5C52B-EA80-4DDB-B8D2-A03C9AA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489075"/>
            <a:ext cx="43891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8CBF44-02A1-4937-BBE3-999AFA3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73" y="1489075"/>
            <a:ext cx="16459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6">
            <a:extLst xmlns:a="http://schemas.openxmlformats.org/drawingml/2006/main">
              <a:ext uri="{FF2B5EF4-FFF2-40B4-BE49-F238E27FC236}">
                <a16:creationId xmlns:a16="http://schemas.microsoft.com/office/drawing/2014/main" id="{2109893B-B229-49F1-B340-A499A41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15" y="162763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CORE OFFLINE PIPELINE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BCB88A18-6486-40B6-A296-79EAC675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8">
            <a:extLst xmlns:a="http://schemas.openxmlformats.org/drawingml/2006/main">
              <a:ext uri="{FF2B5EF4-FFF2-40B4-BE49-F238E27FC236}">
                <a16:creationId xmlns:a16="http://schemas.microsoft.com/office/drawing/2014/main" id="{8D144CA8-CF8A-4D3A-B6F9-269AD0C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MIC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" name="TextBox 9">
            <a:extLst xmlns:a="http://schemas.openxmlformats.org/drawingml/2006/main">
              <a:ext uri="{FF2B5EF4-FFF2-40B4-BE49-F238E27FC236}">
                <a16:creationId xmlns:a16="http://schemas.microsoft.com/office/drawing/2014/main" id="{5813E072-750D-4144-8113-FC74D37F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77A7156-A5B1-42A7-A039-E5F45BE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B9046DBD-BADC-4719-9C27-BFB6743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FC70D-A916-43F7-805D-A240A93F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VAD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3F6378-CD54-4E8A-8C88-487425E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Pause / stop
detection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5DE0BD1C-8B1D-4CC5-A685-BC8548C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4536854-F740-4FAE-8A0E-E808932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1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7604C-0D3E-4E97-92F9-44C8F66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STT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" name="TextBox 17">
            <a:extLst xmlns:a="http://schemas.openxmlformats.org/drawingml/2006/main">
              <a:ext uri="{FF2B5EF4-FFF2-40B4-BE49-F238E27FC236}">
                <a16:creationId xmlns:a16="http://schemas.microsoft.com/office/drawing/2014/main" id="{DCB00339-0FE9-4E3A-B7A2-9308099A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5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Selected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STT pack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CF38E28-E047-406A-847F-8AC8E6C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66D3C5B-7918-4C93-9DCB-A43CA1D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B15BE4-C58F-403A-AB1D-CD5B635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TXT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8" name="TextBox 21">
            <a:extLst xmlns:a="http://schemas.openxmlformats.org/drawingml/2006/main">
              <a:ext uri="{FF2B5EF4-FFF2-40B4-BE49-F238E27FC236}">
                <a16:creationId xmlns:a16="http://schemas.microsoft.com/office/drawing/2014/main" id="{084437A0-E274-4989-9D5F-9655A402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Compact
packet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87960FD-A0F5-4279-8224-EADB8B3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0BEE911F-45B1-452C-9B2B-543E6F1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24">
            <a:extLst xmlns:a="http://schemas.openxmlformats.org/drawingml/2006/main">
              <a:ext uri="{FF2B5EF4-FFF2-40B4-BE49-F238E27FC236}">
                <a16:creationId xmlns:a16="http://schemas.microsoft.com/office/drawing/2014/main" id="{D9B6AE8F-28FC-4399-85A7-415C095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P2P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0F5E52-9418-4974-B97B-9557EC2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Bluetooth /
Wi‑Fi Direct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3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3223243E-298A-47AD-8649-83F69E5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C1C2EF7E-9113-426B-973C-53E61BAE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28">
            <a:extLst xmlns:a="http://schemas.openxmlformats.org/drawingml/2006/main">
              <a:ext uri="{FF2B5EF4-FFF2-40B4-BE49-F238E27FC236}">
                <a16:creationId xmlns:a16="http://schemas.microsoft.com/office/drawing/2014/main" id="{9CD7AF2F-A1C6-429B-A31F-A2BE014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TTS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6" name="TextBox 29">
            <a:extLst xmlns:a="http://schemas.openxmlformats.org/drawingml/2006/main">
              <a:ext uri="{FF2B5EF4-FFF2-40B4-BE49-F238E27FC236}">
                <a16:creationId xmlns:a16="http://schemas.microsoft.com/office/drawing/2014/main" id="{335DA83C-04F6-4776-9DCC-16E71C0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Selected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TTS voice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7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DDA1F0D6-5604-4E13-90E1-51AB684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39572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7CAD8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47C680DB-8DB2-4FA1-B94A-95DDD92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206654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4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2">
            <a:extLst xmlns:a="http://schemas.openxmlformats.org/drawingml/2006/main">
              <a:ext uri="{FF2B5EF4-FFF2-40B4-BE49-F238E27FC236}">
                <a16:creationId xmlns:a16="http://schemas.microsoft.com/office/drawing/2014/main" id="{CF5D5D03-8CD2-4D3E-8D82-650F572D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185416"/>
            <a:ext cx="548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SPK</a:t>
            </a:r>
            <a:endParaRPr sz="1000" b="1" i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0" name="TextBox 33">
            <a:extLst xmlns:a="http://schemas.openxmlformats.org/drawingml/2006/main">
              <a:ext uri="{FF2B5EF4-FFF2-40B4-BE49-F238E27FC236}">
                <a16:creationId xmlns:a16="http://schemas.microsoft.com/office/drawing/2014/main" id="{59CA7EC6-5E67-4F57-9044-0DD62B92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2834640"/>
            <a:ext cx="100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Voice out</a:t>
            </a:r>
            <a:endParaRPr sz="96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TextBox 34">
            <a:extLst xmlns:a="http://schemas.openxmlformats.org/drawingml/2006/main">
              <a:ext uri="{FF2B5EF4-FFF2-40B4-BE49-F238E27FC236}">
                <a16:creationId xmlns:a16="http://schemas.microsoft.com/office/drawing/2014/main" id="{C9BCC99A-F7D5-4B55-8BF7-9CFBFF0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576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OPERATING MODES</a:t>
            </a:r>
            <a:endParaRPr sz="100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042B353-15F4-4F2A-B999-76DC7D6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05072"/>
            <a:ext cx="283464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36">
            <a:extLst xmlns:a="http://schemas.openxmlformats.org/drawingml/2006/main">
              <a:ext uri="{FF2B5EF4-FFF2-40B4-BE49-F238E27FC236}">
                <a16:creationId xmlns:a16="http://schemas.microsoft.com/office/drawing/2014/main" id="{990268B3-82E2-4A5C-AB0F-9A78CFE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14223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B74C8"/>
                </a:solidFill>
                <a:latin typeface="Inter"/>
                <a:ea typeface="Inter"/>
                <a:cs typeface="Inter"/>
              </a:rPr>
              <a:t>PTT ON</a:t>
            </a:r>
            <a:endParaRPr sz="1000" b="1" i="0">
              <a:solidFill>
                <a:srgbClr val="0B74C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TextBox 37">
            <a:extLst xmlns:a="http://schemas.openxmlformats.org/drawingml/2006/main">
              <a:ext uri="{FF2B5EF4-FFF2-40B4-BE49-F238E27FC236}">
                <a16:creationId xmlns:a16="http://schemas.microsoft.com/office/drawing/2014/main" id="{861CB892-48BD-413E-A19F-B4FE8FD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078224"/>
            <a:ext cx="17190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Walkie‑talkie style push-to-talk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6168E836-FDF2-4CAA-94AB-8C983A3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005072"/>
            <a:ext cx="290779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270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39">
            <a:extLst xmlns:a="http://schemas.openxmlformats.org/drawingml/2006/main">
              <a:ext uri="{FF2B5EF4-FFF2-40B4-BE49-F238E27FC236}">
                <a16:creationId xmlns:a16="http://schemas.microsoft.com/office/drawing/2014/main" id="{436629AA-3434-4210-A502-C10E4E7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4142232"/>
            <a:ext cx="8046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PTT OFF</a:t>
            </a:r>
            <a:endParaRPr sz="100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TextBox 40">
            <a:extLst xmlns:a="http://schemas.openxmlformats.org/drawingml/2006/main">
              <a:ext uri="{FF2B5EF4-FFF2-40B4-BE49-F238E27FC236}">
                <a16:creationId xmlns:a16="http://schemas.microsoft.com/office/drawing/2014/main" id="{2D15E8F9-D965-4F99-B0A9-D6909D8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078224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Speech segments after pauses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AE64C720-BA11-4D52-8434-D9A37AB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005072"/>
            <a:ext cx="256032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F1D7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2">
            <a:extLst xmlns:a="http://schemas.openxmlformats.org/drawingml/2006/main">
              <a:ext uri="{FF2B5EF4-FFF2-40B4-BE49-F238E27FC236}">
                <a16:creationId xmlns:a16="http://schemas.microsoft.com/office/drawing/2014/main" id="{4C196BD9-D43E-4DCE-A4F7-5F6A4B3E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42232"/>
            <a:ext cx="640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ALERT</a:t>
            </a:r>
            <a:endParaRPr sz="10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0" name="TextBox 43">
            <a:extLst xmlns:a="http://schemas.openxmlformats.org/drawingml/2006/main">
              <a:ext uri="{FF2B5EF4-FFF2-40B4-BE49-F238E27FC236}">
                <a16:creationId xmlns:a16="http://schemas.microsoft.com/office/drawing/2014/main" id="{268A47AC-9429-4F6D-A56F-B8C11C71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078224"/>
            <a:ext cx="15727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Priority alert playback</a:t>
            </a:r>
            <a:endParaRPr sz="10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A7EF2500-24F6-4D2C-83AC-73488B71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05072"/>
            <a:ext cx="2011680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7F5"/>
          </a:solidFill>
          <a:ln xmlns:a="http://schemas.openxmlformats.org/drawingml/2006/main" w="12700">
            <a:solidFill>
              <a:srgbClr val="CEE2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45">
            <a:extLst xmlns:a="http://schemas.openxmlformats.org/drawingml/2006/main">
              <a:ext uri="{FF2B5EF4-FFF2-40B4-BE49-F238E27FC236}">
                <a16:creationId xmlns:a16="http://schemas.microsoft.com/office/drawing/2014/main" id="{B42F45CC-A0ED-4FC6-B881-8E866D7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4105656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20" b="1" i="0">
                <a:solidFill>
                  <a:srgbClr val="16A085"/>
                </a:solidFill>
                <a:latin typeface="Inter"/>
                <a:ea typeface="Inter"/>
                <a:cs typeface="Inter"/>
              </a:rPr>
              <a:t>SECURE SESSION</a:t>
            </a:r>
            <a:endParaRPr sz="920" b="1" i="0">
              <a:solidFill>
                <a:srgbClr val="16A085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TextBox 46">
            <a:extLst xmlns:a="http://schemas.openxmlformats.org/drawingml/2006/main">
              <a:ext uri="{FF2B5EF4-FFF2-40B4-BE49-F238E27FC236}">
                <a16:creationId xmlns:a16="http://schemas.microsoft.com/office/drawing/2014/main" id="{6131F2A8-F2E2-4EDF-8361-3B58FEF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544"/>
            <a:ext cx="17007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203040"/>
                </a:solidFill>
                <a:latin typeface="Inter"/>
                <a:ea typeface="Inter"/>
                <a:cs typeface="Inter"/>
              </a:rPr>
              <a:t>ECDH • SAS • AES‑GCM</a:t>
            </a:r>
            <a:endParaRPr sz="850" b="1" i="0">
              <a:solidFill>
                <a:srgbClr val="20304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TextBox 47">
            <a:extLst xmlns:a="http://schemas.openxmlformats.org/drawingml/2006/main">
              <a:ext uri="{FF2B5EF4-FFF2-40B4-BE49-F238E27FC236}">
                <a16:creationId xmlns:a16="http://schemas.microsoft.com/office/drawing/2014/main" id="{6C3BDC11-3DA6-4CD1-9437-DDED1FB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02352"/>
            <a:ext cx="2971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VALIDATION &amp; RELEASE PLAN</a:t>
            </a:r>
            <a:endParaRPr sz="100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852ECDCA-53D4-4855-819F-58865857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1536"/>
            <a:ext cx="10789920" cy="6766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12700">
            <a:solidFill>
              <a:srgbClr val="F2D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13B12CDC-69B5-4172-BB1A-03FCC0E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05272"/>
            <a:ext cx="128016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0">
            <a:extLst xmlns:a="http://schemas.openxmlformats.org/drawingml/2006/main">
              <a:ext uri="{FF2B5EF4-FFF2-40B4-BE49-F238E27FC236}">
                <a16:creationId xmlns:a16="http://schemas.microsoft.com/office/drawing/2014/main" id="{ED2083FF-ADE8-4D3A-9758-0232CEC5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23559"/>
            <a:ext cx="11887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GPU pilot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1D08C94F-0308-474F-AFD9-8D1D245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605272"/>
            <a:ext cx="16002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2">
            <a:extLst xmlns:a="http://schemas.openxmlformats.org/drawingml/2006/main">
              <a:ext uri="{FF2B5EF4-FFF2-40B4-BE49-F238E27FC236}">
                <a16:creationId xmlns:a16="http://schemas.microsoft.com/office/drawing/2014/main" id="{3855960B-6537-42C7-B69F-87F93FC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62355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Train on train / dev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0C1209C9-5569-496E-A5C3-AC002F8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605272"/>
            <a:ext cx="128016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54">
            <a:extLst xmlns:a="http://schemas.openxmlformats.org/drawingml/2006/main">
              <a:ext uri="{FF2B5EF4-FFF2-40B4-BE49-F238E27FC236}">
                <a16:creationId xmlns:a16="http://schemas.microsoft.com/office/drawing/2014/main" id="{C17C8C60-48EE-44EA-B808-A48EB851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623559"/>
            <a:ext cx="11887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Locked WER tests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F5B3531E-FF77-4933-805C-9AD8DEC8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05272"/>
            <a:ext cx="16002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56">
            <a:extLst xmlns:a="http://schemas.openxmlformats.org/drawingml/2006/main">
              <a:ext uri="{FF2B5EF4-FFF2-40B4-BE49-F238E27FC236}">
                <a16:creationId xmlns:a16="http://schemas.microsoft.com/office/drawing/2014/main" id="{79ABF881-A894-49BA-958B-48F76B36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562355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ONNX / INT8 checks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4" name="Rounded Rectangle 63">
            <a:extLst xmlns:a="http://schemas.openxmlformats.org/drawingml/2006/main">
              <a:ext uri="{FF2B5EF4-FFF2-40B4-BE49-F238E27FC236}">
                <a16:creationId xmlns:a16="http://schemas.microsoft.com/office/drawing/2014/main" id="{FF669776-7309-4E7C-9229-DD0E457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5605272"/>
            <a:ext cx="114300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CB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58">
            <a:extLst xmlns:a="http://schemas.openxmlformats.org/drawingml/2006/main">
              <a:ext uri="{FF2B5EF4-FFF2-40B4-BE49-F238E27FC236}">
                <a16:creationId xmlns:a16="http://schemas.microsoft.com/office/drawing/2014/main" id="{B1140B38-9C13-4FC0-9EF7-BBCF7F7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23559"/>
            <a:ext cx="1047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 i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Two-phone demo</a:t>
            </a:r>
            <a:endParaRPr sz="830" b="1" i="0">
              <a:solidFill>
                <a:srgbClr val="102A43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D48A5DA4-F4EB-4D8E-8888-6F03451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5760720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Connector 60">
            <a:extLst xmlns:a="http://schemas.openxmlformats.org/drawingml/2006/main">
              <a:ext uri="{FF2B5EF4-FFF2-40B4-BE49-F238E27FC236}">
                <a16:creationId xmlns:a16="http://schemas.microsoft.com/office/drawing/2014/main" id="{4697FBF3-6013-4F05-BFFA-5E2BC75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76072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A945FF9F-1B78-4816-87A2-089863F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7607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Connector 62">
            <a:extLst xmlns:a="http://schemas.openxmlformats.org/drawingml/2006/main">
              <a:ext uri="{FF2B5EF4-FFF2-40B4-BE49-F238E27FC236}">
                <a16:creationId xmlns:a16="http://schemas.microsoft.com/office/drawing/2014/main" id="{7222F899-4F7D-4272-9F21-4685D94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760720"/>
            <a:ext cx="55778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F36F2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A137C00F-042D-4894-872F-29E32B4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605272"/>
            <a:ext cx="109728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TextBox 64">
            <a:extLst xmlns:a="http://schemas.openxmlformats.org/drawingml/2006/main">
              <a:ext uri="{FF2B5EF4-FFF2-40B4-BE49-F238E27FC236}">
                <a16:creationId xmlns:a16="http://schemas.microsoft.com/office/drawing/2014/main" id="{72C51B06-D98E-4DA0-B363-CA9B3CA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5623559"/>
            <a:ext cx="1005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1" i="0">
                <a:solidFill>
                  <a:srgbClr val="F36F21"/>
                </a:solidFill>
                <a:latin typeface="Inter"/>
                <a:ea typeface="Inter"/>
                <a:cs typeface="Inter"/>
              </a:rPr>
              <a:t>SIGNED RELEASE</a:t>
            </a:r>
            <a:endParaRPr sz="760" b="1" i="0">
              <a:solidFill>
                <a:srgbClr val="F36F2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4" name="TextBox 67">
            <a:extLst xmlns:a="http://schemas.openxmlformats.org/drawingml/2006/main">
              <a:ext uri="{FF2B5EF4-FFF2-40B4-BE49-F238E27FC236}">
                <a16:creationId xmlns:a16="http://schemas.microsoft.com/office/drawing/2014/main" id="{807EC353-B451-473D-B486-EA199A9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6248"/>
            <a:ext cx="6400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rgbClr val="7E8C99"/>
                </a:solidFill>
                <a:latin typeface="Inter"/>
                <a:ea typeface="Inter"/>
                <a:cs typeface="Inter"/>
              </a:rPr>
              <a:t>5/6</a:t>
            </a:r>
            <a:endParaRPr sz="800" b="0" i="0">
              <a:solidFill>
                <a:srgbClr val="7E8C9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C3C7B8C-58FB-46DE-90BD-845B9D7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9541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D18AF40-9DE6-4D24-8BC9-3056B214A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18288"/>
            <a:ext cx="9144000" cy="6583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2800" b="1" i="1" u="sng">
              <a:latin typeface="ROG Fonts"/>
              <a:ea typeface="ROG Fonts"/>
              <a:cs typeface="ROG Fonts"/>
            </a:endParaRPr>
          </a:p>
        </p:txBody>
      </p:sp>
      <p:pic>
        <p:nvPicPr>
          <p:cNvPr id="174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02151745149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3F071D2-5089-462E-A42C-33EA70A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Git Bit</a:t>
            </a:r>
            <a:endParaRPr/>
          </a:p>
        </p:txBody>
      </p:sp>
      <p:sp>
        <p:nvSpPr>
          <p:cNvPr id="17410" name="TextBox 17409">
            <a:extLst xmlns:a="http://schemas.openxmlformats.org/drawingml/2006/main">
              <a:ext uri="{FF2B5EF4-FFF2-40B4-BE49-F238E27FC236}">
                <a16:creationId xmlns:a16="http://schemas.microsoft.com/office/drawing/2014/main" id="{02FF8FD9-0D5A-4C2B-AE4E-1BE7B71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234440"/>
            <a:ext cx="9372600" cy="489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Official problem SIH26173: sih.gov.in/sih2026PS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Speech runtime: sherpa-onnx (offline Android STT/TTS)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STT: IndicConformer / English FastConformer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TTS: MMS-VITS + Marathi Piper; licences vary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Desktop WER: FLEURS, 30 clean clips per language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Tamil data: Kathbath, 4,428 train / 555 dev clips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GPU setup passed; baseline retry and training pending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Release gates: phone tests, licence review, signed APK</a:t>
            </a:r>
          </a:p>
        </p:txBody>
      </p:sp>
      <p:sp>
        <p:nvSpPr>
          <p:cNvPr id="17411" name="TextBox 17410">
            <a:extLst xmlns:a="http://schemas.openxmlformats.org/drawingml/2006/main">
              <a:ext uri="{FF2B5EF4-FFF2-40B4-BE49-F238E27FC236}">
                <a16:creationId xmlns:a16="http://schemas.microsoft.com/office/drawing/2014/main" id="{0CE49830-4D5E-4514-8F41-084641D2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987552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069BE"/>
                </a:solidFill>
                <a:latin typeface="Aptos"/>
                <a:ea typeface="Aptos"/>
                <a:cs typeface="Aptos"/>
              </a:defRPr>
            </a:pPr>
            <a:r>
              <a:t>REFERENCES &amp; RELEASE GATES</a:t>
            </a:r>
          </a:p>
        </p:txBody>
      </p:sp>
    </p:spTree>
    <p:extLst>
      <p:ext uri="{BB962C8B-B14F-4D97-AF65-F5344CB8AC3E}">
        <p14:creationId xmlns:p14="http://schemas.microsoft.com/office/powerpoint/2010/main" val="2720813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2026-10-05T10:24:05.8500000Z</dcterms:created>
  <dcterms:modified xsi:type="dcterms:W3CDTF">2026-10-05T10:24:05.8500000Z</dcterms:modified>
</coreProperties>
</file>