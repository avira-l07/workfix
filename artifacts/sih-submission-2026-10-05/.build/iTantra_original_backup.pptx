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4" r:id="rId7"/>
    <p:sldId id="293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0" d="100"/>
          <a:sy n="90" d="100"/>
        </p:scale>
        <p:origin x="370" y="82"/>
      </p:cViewPr>
      <p:guideLst>
        <p:guide orient="horz" pos="2188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sih.gov.in/sih2026PS" TargetMode="External"/><Relationship Id="rId2" Type="http://schemas.openxmlformats.org/officeDocument/2006/relationships/hyperlink" Target="https://www.isro.gov.in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Relationship Id="rId6" Type="http://schemas.openxmlformats.org/officeDocument/2006/relationships/hyperlink" Target="https://github.com/avira-l07/workf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iTantra</a:t>
            </a:r>
            <a:endParaRPr lang="en-IN" sz="3600" b="1" i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91440"/>
            <a:ext cx="10363200" cy="2076450"/>
          </a:xfrm>
        </p:spPr>
        <p:txBody>
          <a:bodyPr/>
          <a:lstStyle/>
          <a:p>
            <a:r>
              <a:rPr lang="en-US" sz="2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28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7080" y="1560277"/>
            <a:ext cx="628662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SIH26173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iTantra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Statement- </a:t>
            </a:r>
            <a:r>
              <a:rPr lang="en-IN" b="1" dirty="0"/>
              <a:t>Indian Multilingual TTS &amp; STT Aided Neural Transceiver Radio Access for low bitrate links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Software Theme-Smart Automation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ID- 165027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GIT BIT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Bit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US" sz="2800" b="1" i="1" u="sng" dirty="0">
              <a:latin typeface="ROG Fonts" panose="00000500000000000000" pitchFamily="50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0" y="1395246"/>
            <a:ext cx="12191999" cy="1631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endParaRPr lang="en-US" sz="32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6928" y="6291707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B74C8"/>
                </a:solidFill>
                <a:latin typeface="Inter"/>
              </a:rPr>
              <a:t>THE PROBLEM + CORE INSIGHT</a:t>
            </a:r>
            <a:endParaRPr sz="10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12" name="TextBox 5"/>
          <p:cNvSpPr txBox="1"/>
          <p:nvPr/>
        </p:nvSpPr>
        <p:spPr>
          <a:xfrm>
            <a:off x="566928" y="1323975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617284"/>
                </a:solidFill>
                <a:latin typeface="Inter"/>
              </a:rPr>
              <a:t>iTANTRA keeps the human experience as voice, but moves only compact information across the constrained link.</a:t>
            </a:r>
            <a:endParaRPr sz="1150" b="0" i="0">
              <a:solidFill>
                <a:srgbClr val="617284"/>
              </a:solidFill>
              <a:latin typeface="Inter"/>
            </a:endParaRPr>
          </a:p>
        </p:txBody>
      </p:sp>
      <p:pic>
        <p:nvPicPr>
          <p:cNvPr id="13" name="Picture 12" descr="_crop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4617720" cy="23317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" y="1645920"/>
            <a:ext cx="4617720" cy="2331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1847088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FF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9"/>
          <p:cNvSpPr txBox="1"/>
          <p:nvPr/>
        </p:nvSpPr>
        <p:spPr>
          <a:xfrm>
            <a:off x="868680" y="1865376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36F21"/>
                </a:solidFill>
                <a:latin typeface="Inter"/>
              </a:rPr>
              <a:t>FIELD / DISTRESS SCENARIO</a:t>
            </a:r>
            <a:endParaRPr sz="850" b="1" i="0">
              <a:solidFill>
                <a:srgbClr val="F36F21"/>
              </a:solidFill>
              <a:latin typeface="Inter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76656" y="4288536"/>
            <a:ext cx="73152" cy="73152"/>
          </a:xfrm>
          <a:prstGeom prst="ellipse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1"/>
          <p:cNvSpPr txBox="1"/>
          <p:nvPr/>
        </p:nvSpPr>
        <p:spPr>
          <a:xfrm>
            <a:off x="822959" y="4160520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203040"/>
                </a:solidFill>
                <a:latin typeface="Inter"/>
              </a:rPr>
              <a:t>Continuous voice is data-heavy</a:t>
            </a:r>
            <a:endParaRPr sz="1250" b="1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76656" y="4718303"/>
            <a:ext cx="73152" cy="73152"/>
          </a:xfrm>
          <a:prstGeom prst="ellipse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3"/>
          <p:cNvSpPr txBox="1"/>
          <p:nvPr/>
        </p:nvSpPr>
        <p:spPr>
          <a:xfrm>
            <a:off x="822959" y="4590288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03040"/>
                </a:solidFill>
                <a:latin typeface="Inter"/>
              </a:rPr>
              <a:t>Low-bitrate links cannot carry rich audio reliably</a:t>
            </a:r>
            <a:endParaRPr sz="1200" b="0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76656" y="5157216"/>
            <a:ext cx="73152" cy="73152"/>
          </a:xfrm>
          <a:prstGeom prst="ellipse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15"/>
          <p:cNvSpPr txBox="1"/>
          <p:nvPr/>
        </p:nvSpPr>
        <p:spPr>
          <a:xfrm>
            <a:off x="822959" y="5029200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03040"/>
                </a:solidFill>
                <a:latin typeface="Inter"/>
              </a:rPr>
              <a:t>Users still need spoken output for accessibility</a:t>
            </a:r>
            <a:endParaRPr sz="1200" b="0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23" name="TextBox 16"/>
          <p:cNvSpPr txBox="1"/>
          <p:nvPr/>
        </p:nvSpPr>
        <p:spPr>
          <a:xfrm>
            <a:off x="5596128" y="16642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B74C8"/>
                </a:solidFill>
                <a:latin typeface="Inter"/>
              </a:rPr>
              <a:t>ITANTRA APPROACH</a:t>
            </a:r>
            <a:endParaRPr sz="10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24" name="TextBox 17"/>
          <p:cNvSpPr txBox="1"/>
          <p:nvPr/>
        </p:nvSpPr>
        <p:spPr>
          <a:xfrm>
            <a:off x="5596128" y="1901952"/>
            <a:ext cx="5897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203040"/>
                </a:solidFill>
                <a:latin typeface="Inter"/>
              </a:rPr>
              <a:t>Keep </a:t>
            </a:r>
            <a:r>
              <a:rPr sz="1900" b="1">
                <a:solidFill>
                  <a:srgbClr val="0B74C8"/>
                </a:solidFill>
                <a:latin typeface="Inter"/>
              </a:rPr>
              <a:t>VOICE</a:t>
            </a:r>
            <a:r>
              <a:rPr sz="1900" b="0">
                <a:solidFill>
                  <a:srgbClr val="203040"/>
                </a:solidFill>
                <a:latin typeface="Inter"/>
              </a:rPr>
              <a:t> at both ends. Send only </a:t>
            </a:r>
            <a:r>
              <a:rPr sz="1900" b="1">
                <a:solidFill>
                  <a:srgbClr val="F36F21"/>
                </a:solidFill>
                <a:latin typeface="Inter"/>
              </a:rPr>
              <a:t>COMPACT TEXT</a:t>
            </a:r>
            <a:r>
              <a:rPr sz="1900" b="0">
                <a:solidFill>
                  <a:srgbClr val="203040"/>
                </a:solidFill>
                <a:latin typeface="Inter"/>
              </a:rPr>
              <a:t> in between.</a:t>
            </a:r>
            <a:endParaRPr sz="1900" b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650992" y="2980944"/>
            <a:ext cx="566928" cy="56692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19"/>
          <p:cNvSpPr txBox="1"/>
          <p:nvPr/>
        </p:nvSpPr>
        <p:spPr>
          <a:xfrm>
            <a:off x="5788152" y="3108960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1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7" name="TextBox 20"/>
          <p:cNvSpPr txBox="1"/>
          <p:nvPr/>
        </p:nvSpPr>
        <p:spPr>
          <a:xfrm>
            <a:off x="5586984" y="3630168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i="0">
                <a:solidFill>
                  <a:srgbClr val="203040"/>
                </a:solidFill>
                <a:latin typeface="Inter"/>
              </a:rPr>
              <a:t>Speech</a:t>
            </a:r>
            <a:endParaRPr sz="94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28" name="Connector 21"/>
          <p:cNvCxnSpPr/>
          <p:nvPr/>
        </p:nvCxnSpPr>
        <p:spPr>
          <a:xfrm>
            <a:off x="6227064" y="3264408"/>
            <a:ext cx="347472" cy="0"/>
          </a:xfrm>
          <a:prstGeom prst="line">
            <a:avLst/>
          </a:prstGeom>
          <a:ln w="22860">
            <a:solidFill>
              <a:srgbClr val="AFC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601968" y="2980944"/>
            <a:ext cx="566928" cy="56692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3"/>
          <p:cNvSpPr txBox="1"/>
          <p:nvPr/>
        </p:nvSpPr>
        <p:spPr>
          <a:xfrm>
            <a:off x="6739128" y="3108960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2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1" name="TextBox 24"/>
          <p:cNvSpPr txBox="1"/>
          <p:nvPr/>
        </p:nvSpPr>
        <p:spPr>
          <a:xfrm>
            <a:off x="6537960" y="3630168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i="0">
                <a:solidFill>
                  <a:srgbClr val="203040"/>
                </a:solidFill>
                <a:latin typeface="Inter"/>
              </a:rPr>
              <a:t>STT + pause
detection</a:t>
            </a:r>
            <a:endParaRPr sz="94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32" name="Connector 25"/>
          <p:cNvCxnSpPr/>
          <p:nvPr/>
        </p:nvCxnSpPr>
        <p:spPr>
          <a:xfrm>
            <a:off x="7178040" y="3264408"/>
            <a:ext cx="347472" cy="0"/>
          </a:xfrm>
          <a:prstGeom prst="line">
            <a:avLst/>
          </a:prstGeom>
          <a:ln w="22860">
            <a:solidFill>
              <a:srgbClr val="AFC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552944" y="2980944"/>
            <a:ext cx="566928" cy="566928"/>
          </a:xfrm>
          <a:prstGeom prst="ellipse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27"/>
          <p:cNvSpPr txBox="1"/>
          <p:nvPr/>
        </p:nvSpPr>
        <p:spPr>
          <a:xfrm>
            <a:off x="7690104" y="3108960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3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5" name="TextBox 28"/>
          <p:cNvSpPr txBox="1"/>
          <p:nvPr/>
        </p:nvSpPr>
        <p:spPr>
          <a:xfrm>
            <a:off x="7488936" y="3630168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i="0">
                <a:solidFill>
                  <a:srgbClr val="203040"/>
                </a:solidFill>
                <a:latin typeface="Inter"/>
              </a:rPr>
              <a:t>Compact
text packet</a:t>
            </a:r>
            <a:endParaRPr sz="94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36" name="Connector 29"/>
          <p:cNvCxnSpPr/>
          <p:nvPr/>
        </p:nvCxnSpPr>
        <p:spPr>
          <a:xfrm>
            <a:off x="8129016" y="3264408"/>
            <a:ext cx="347472" cy="0"/>
          </a:xfrm>
          <a:prstGeom prst="line">
            <a:avLst/>
          </a:prstGeom>
          <a:ln w="22860">
            <a:solidFill>
              <a:srgbClr val="AFC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503919" y="2980944"/>
            <a:ext cx="566928" cy="566928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1"/>
          <p:cNvSpPr txBox="1"/>
          <p:nvPr/>
        </p:nvSpPr>
        <p:spPr>
          <a:xfrm>
            <a:off x="8641080" y="3108960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4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9" name="TextBox 32"/>
          <p:cNvSpPr txBox="1"/>
          <p:nvPr/>
        </p:nvSpPr>
        <p:spPr>
          <a:xfrm>
            <a:off x="8439912" y="3630168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i="0">
                <a:solidFill>
                  <a:srgbClr val="203040"/>
                </a:solidFill>
                <a:latin typeface="Inter"/>
              </a:rPr>
              <a:t>Wi‑Fi /
Bluetooth</a:t>
            </a:r>
            <a:endParaRPr sz="94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40" name="Connector 33"/>
          <p:cNvCxnSpPr/>
          <p:nvPr/>
        </p:nvCxnSpPr>
        <p:spPr>
          <a:xfrm>
            <a:off x="9079992" y="3264408"/>
            <a:ext cx="347471" cy="0"/>
          </a:xfrm>
          <a:prstGeom prst="line">
            <a:avLst/>
          </a:prstGeom>
          <a:ln w="22860">
            <a:solidFill>
              <a:srgbClr val="AFC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454896" y="2980944"/>
            <a:ext cx="566928" cy="56692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35"/>
          <p:cNvSpPr txBox="1"/>
          <p:nvPr/>
        </p:nvSpPr>
        <p:spPr>
          <a:xfrm>
            <a:off x="9592056" y="3108960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5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43" name="TextBox 36"/>
          <p:cNvSpPr txBox="1"/>
          <p:nvPr/>
        </p:nvSpPr>
        <p:spPr>
          <a:xfrm>
            <a:off x="9390888" y="3630168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i="0">
                <a:solidFill>
                  <a:srgbClr val="203040"/>
                </a:solidFill>
                <a:latin typeface="Inter"/>
              </a:rPr>
              <a:t>TTS</a:t>
            </a:r>
            <a:endParaRPr sz="94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44" name="Connector 37"/>
          <p:cNvCxnSpPr/>
          <p:nvPr/>
        </p:nvCxnSpPr>
        <p:spPr>
          <a:xfrm>
            <a:off x="10030968" y="3264408"/>
            <a:ext cx="347472" cy="0"/>
          </a:xfrm>
          <a:prstGeom prst="line">
            <a:avLst/>
          </a:prstGeom>
          <a:ln w="22860">
            <a:solidFill>
              <a:srgbClr val="AFC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405872" y="2980944"/>
            <a:ext cx="566928" cy="56692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39"/>
          <p:cNvSpPr txBox="1"/>
          <p:nvPr/>
        </p:nvSpPr>
        <p:spPr>
          <a:xfrm>
            <a:off x="10543032" y="3108960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6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47" name="TextBox 40"/>
          <p:cNvSpPr txBox="1"/>
          <p:nvPr/>
        </p:nvSpPr>
        <p:spPr>
          <a:xfrm>
            <a:off x="10341864" y="3630168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i="0">
                <a:solidFill>
                  <a:srgbClr val="203040"/>
                </a:solidFill>
                <a:latin typeface="Inter"/>
              </a:rPr>
              <a:t>Voice</a:t>
            </a:r>
            <a:endParaRPr sz="940" b="1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48" name="TextBox 41"/>
          <p:cNvSpPr txBox="1"/>
          <p:nvPr/>
        </p:nvSpPr>
        <p:spPr>
          <a:xfrm>
            <a:off x="5596128" y="4160520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2A43"/>
                </a:solidFill>
                <a:latin typeface="Inter"/>
              </a:rPr>
              <a:t>10 INDIAN LANGUAGES — ONE COMMON PIPELINE</a:t>
            </a:r>
            <a:endParaRPr sz="100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596128" y="4526280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3"/>
          <p:cNvSpPr txBox="1"/>
          <p:nvPr/>
        </p:nvSpPr>
        <p:spPr>
          <a:xfrm>
            <a:off x="5641848" y="454456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Hindi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693408" y="4526280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45"/>
          <p:cNvSpPr txBox="1"/>
          <p:nvPr/>
        </p:nvSpPr>
        <p:spPr>
          <a:xfrm>
            <a:off x="6739128" y="454456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Gujarati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790688" y="4526280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47"/>
          <p:cNvSpPr txBox="1"/>
          <p:nvPr/>
        </p:nvSpPr>
        <p:spPr>
          <a:xfrm>
            <a:off x="7836408" y="454456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Marathi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887967" y="4526280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49"/>
          <p:cNvSpPr txBox="1"/>
          <p:nvPr/>
        </p:nvSpPr>
        <p:spPr>
          <a:xfrm>
            <a:off x="8933688" y="454456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Kannada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985248" y="4526280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1"/>
          <p:cNvSpPr txBox="1"/>
          <p:nvPr/>
        </p:nvSpPr>
        <p:spPr>
          <a:xfrm>
            <a:off x="10030968" y="454456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Malayalam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596128" y="4956048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3"/>
          <p:cNvSpPr txBox="1"/>
          <p:nvPr/>
        </p:nvSpPr>
        <p:spPr>
          <a:xfrm>
            <a:off x="5641848" y="4974336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Tamil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693408" y="4956048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55"/>
          <p:cNvSpPr txBox="1"/>
          <p:nvPr/>
        </p:nvSpPr>
        <p:spPr>
          <a:xfrm>
            <a:off x="6739128" y="4974336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Telugu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7790688" y="4956048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57"/>
          <p:cNvSpPr txBox="1"/>
          <p:nvPr/>
        </p:nvSpPr>
        <p:spPr>
          <a:xfrm>
            <a:off x="7836408" y="4974336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Odia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887967" y="4956048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59"/>
          <p:cNvSpPr txBox="1"/>
          <p:nvPr/>
        </p:nvSpPr>
        <p:spPr>
          <a:xfrm>
            <a:off x="8933688" y="4974336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B74C8"/>
                </a:solidFill>
                <a:latin typeface="Inter"/>
              </a:rPr>
              <a:t>Bengali</a:t>
            </a:r>
            <a:endParaRPr sz="86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9985248" y="4956048"/>
            <a:ext cx="987552" cy="31089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1"/>
          <p:cNvSpPr txBox="1"/>
          <p:nvPr/>
        </p:nvSpPr>
        <p:spPr>
          <a:xfrm>
            <a:off x="10030968" y="4974336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102A43"/>
                </a:solidFill>
                <a:latin typeface="Inter"/>
              </a:rPr>
              <a:t>English</a:t>
            </a:r>
            <a:endParaRPr sz="86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596128" y="5468112"/>
            <a:ext cx="5852160" cy="704088"/>
          </a:xfrm>
          <a:prstGeom prst="roundRect">
            <a:avLst>
              <a:gd name="adj" fmla="val 8000"/>
            </a:avLst>
          </a:prstGeom>
          <a:solidFill>
            <a:srgbClr val="EEF6FB"/>
          </a:solidFill>
          <a:ln w="12700">
            <a:solidFill>
              <a:srgbClr val="D5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3"/>
          <p:cNvSpPr txBox="1"/>
          <p:nvPr/>
        </p:nvSpPr>
        <p:spPr>
          <a:xfrm>
            <a:off x="5806440" y="555955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B74C8"/>
                </a:solidFill>
                <a:latin typeface="Inter"/>
              </a:rPr>
              <a:t>Core SIH alignment:</a:t>
            </a:r>
            <a:endParaRPr sz="9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71" name="TextBox 64"/>
          <p:cNvSpPr txBox="1"/>
          <p:nvPr/>
        </p:nvSpPr>
        <p:spPr>
          <a:xfrm>
            <a:off x="7205472" y="5513832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60" b="1" i="0">
                <a:solidFill>
                  <a:srgbClr val="102A43"/>
                </a:solidFill>
                <a:latin typeface="Inter"/>
              </a:rPr>
              <a:t>Speech → local STT → compact text → local TTS</a:t>
            </a:r>
            <a:endParaRPr sz="106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72" name="TextBox 65"/>
          <p:cNvSpPr txBox="1"/>
          <p:nvPr/>
        </p:nvSpPr>
        <p:spPr>
          <a:xfrm>
            <a:off x="7205472" y="5779008"/>
            <a:ext cx="40050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17284"/>
                </a:solidFill>
                <a:latin typeface="Inter"/>
              </a:rPr>
              <a:t>Optional translation is an enhancement — not the core transport.</a:t>
            </a:r>
            <a:endParaRPr sz="850" b="0" i="0">
              <a:solidFill>
                <a:srgbClr val="617284"/>
              </a:solidFill>
              <a:latin typeface="Inter"/>
            </a:endParaRPr>
          </a:p>
        </p:txBody>
      </p:sp>
      <p:sp>
        <p:nvSpPr>
          <p:cNvPr id="75" name="TextBox 68"/>
          <p:cNvSpPr txBox="1"/>
          <p:nvPr/>
        </p:nvSpPr>
        <p:spPr>
          <a:xfrm>
            <a:off x="10972800" y="6556248"/>
            <a:ext cx="64008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7E8C99"/>
                </a:solidFill>
                <a:latin typeface="Inter"/>
              </a:rPr>
              <a:t>2/6</a:t>
            </a:r>
            <a:endParaRPr sz="800" b="0" i="0">
              <a:solidFill>
                <a:srgbClr val="7E8C99"/>
              </a:solidFill>
              <a:latin typeface="Inter"/>
            </a:endParaRPr>
          </a:p>
        </p:txBody>
      </p:sp>
      <p:sp>
        <p:nvSpPr>
          <p:cNvPr id="3" name="Oval 2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Bit</a:t>
            </a:r>
            <a:endParaRPr lang="en-IN" dirty="0"/>
          </a:p>
        </p:txBody>
      </p:sp>
      <p:sp>
        <p:nvSpPr>
          <p:cNvPr id="15363" name="TextBox 15362"/>
          <p:cNvSpPr txBox="1"/>
          <p:nvPr/>
        </p:nvSpPr>
        <p:spPr>
          <a:xfrm>
            <a:off x="5596128" y="254203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3040"/>
                </a:solidFill>
                <a:latin typeface="Inter"/>
              </a:rPr>
              <a:t>Unlike push-to-talk radios or VoIP apps, iTantra reconstructs speech from a few bytes of text — fully offline, with no SIM or internet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519" y="-40704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114932"/>
            <a:ext cx="8366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2800" b="1" i="1" u="sng" dirty="0">
              <a:latin typeface="ROG Fonts" panose="00000500000000000000" pitchFamily="50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D6E0E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5"/>
          <p:cNvSpPr txBox="1"/>
          <p:nvPr/>
        </p:nvSpPr>
        <p:spPr>
          <a:xfrm>
            <a:off x="11155680" y="6519672"/>
            <a:ext cx="548640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850" b="0">
                <a:solidFill>
                  <a:srgbClr val="637081"/>
                </a:solidFill>
                <a:latin typeface="Aptos"/>
              </a:rPr>
              <a:t>3</a:t>
            </a:r>
            <a:r>
              <a:rPr sz="850" b="0">
                <a:solidFill>
                  <a:srgbClr val="637081"/>
                </a:solidFill>
                <a:latin typeface="Aptos"/>
              </a:rPr>
              <a:t>/6</a:t>
            </a:r>
            <a:endParaRPr sz="85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16" name="TextBox 7"/>
          <p:cNvSpPr txBox="1"/>
          <p:nvPr/>
        </p:nvSpPr>
        <p:spPr>
          <a:xfrm>
            <a:off x="658368" y="13350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37081"/>
                </a:solidFill>
                <a:latin typeface="Aptos"/>
              </a:rPr>
              <a:t>One lightweight architecture for 10-language voice communication over constrained links.</a:t>
            </a:r>
            <a:endParaRPr sz="125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515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29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11579" y="1920240"/>
            <a:ext cx="182880" cy="36576"/>
          </a:xfrm>
          <a:prstGeom prst="ellipse">
            <a:avLst/>
          </a:prstGeom>
          <a:solidFill>
            <a:srgbClr val="96A5B9"/>
          </a:solidFill>
          <a:ln>
            <a:solidFill>
              <a:srgbClr val="96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0"/>
          <p:cNvSpPr txBox="1"/>
          <p:nvPr/>
        </p:nvSpPr>
        <p:spPr>
          <a:xfrm>
            <a:off x="868680" y="267462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76D2"/>
                </a:solidFill>
                <a:latin typeface="Aptos"/>
              </a:rPr>
              <a:t>NODE A</a:t>
            </a:r>
            <a:endParaRPr sz="1500" b="1">
              <a:solidFill>
                <a:srgbClr val="0076D2"/>
              </a:solidFill>
              <a:latin typeface="Aptos"/>
            </a:endParaRPr>
          </a:p>
        </p:txBody>
      </p:sp>
      <p:sp>
        <p:nvSpPr>
          <p:cNvPr id="20" name="TextBox 11"/>
          <p:cNvSpPr txBox="1"/>
          <p:nvPr/>
        </p:nvSpPr>
        <p:spPr>
          <a:xfrm>
            <a:off x="868680" y="306781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37081"/>
                </a:solidFill>
                <a:latin typeface="Aptos"/>
              </a:rPr>
              <a:t>Android</a:t>
            </a:r>
            <a:endParaRPr sz="75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789920" y="1828800"/>
            <a:ext cx="9144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29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5680" y="1920240"/>
            <a:ext cx="182880" cy="36576"/>
          </a:xfrm>
          <a:prstGeom prst="ellipse">
            <a:avLst/>
          </a:prstGeom>
          <a:solidFill>
            <a:srgbClr val="96A5B9"/>
          </a:solidFill>
          <a:ln>
            <a:solidFill>
              <a:srgbClr val="96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14"/>
          <p:cNvSpPr txBox="1"/>
          <p:nvPr/>
        </p:nvSpPr>
        <p:spPr>
          <a:xfrm>
            <a:off x="10881360" y="26746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76D2"/>
                </a:solidFill>
                <a:latin typeface="Aptos"/>
              </a:rPr>
              <a:t>NODE B</a:t>
            </a:r>
            <a:endParaRPr sz="1500" b="1">
              <a:solidFill>
                <a:srgbClr val="0076D2"/>
              </a:solidFill>
              <a:latin typeface="Aptos"/>
            </a:endParaRPr>
          </a:p>
        </p:txBody>
      </p:sp>
      <p:sp>
        <p:nvSpPr>
          <p:cNvPr id="24" name="TextBox 15"/>
          <p:cNvSpPr txBox="1"/>
          <p:nvPr/>
        </p:nvSpPr>
        <p:spPr>
          <a:xfrm>
            <a:off x="10881360" y="30678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37081"/>
                </a:solidFill>
                <a:latin typeface="Aptos"/>
              </a:rPr>
              <a:t>Android</a:t>
            </a:r>
            <a:endParaRPr sz="750" b="0">
              <a:solidFill>
                <a:srgbClr val="637081"/>
              </a:solidFill>
              <a:latin typeface="Aptos"/>
            </a:endParaRPr>
          </a:p>
        </p:txBody>
      </p:sp>
      <p:cxnSp>
        <p:nvCxnSpPr>
          <p:cNvPr id="25" name="Connector 16"/>
          <p:cNvCxnSpPr/>
          <p:nvPr/>
        </p:nvCxnSpPr>
        <p:spPr>
          <a:xfrm>
            <a:off x="1874519" y="2331720"/>
            <a:ext cx="914401" cy="0"/>
          </a:xfrm>
          <a:prstGeom prst="line">
            <a:avLst/>
          </a:prstGeom>
          <a:ln w="27940">
            <a:solidFill>
              <a:srgbClr val="00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34640" y="1691640"/>
            <a:ext cx="1143000" cy="128016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BED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18"/>
          <p:cNvSpPr txBox="1"/>
          <p:nvPr/>
        </p:nvSpPr>
        <p:spPr>
          <a:xfrm>
            <a:off x="3127248" y="189280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76D2"/>
                </a:solidFill>
                <a:latin typeface="Aptos"/>
              </a:rPr>
              <a:t>STT</a:t>
            </a:r>
            <a:endParaRPr sz="1800" b="1">
              <a:solidFill>
                <a:srgbClr val="0076D2"/>
              </a:solidFill>
              <a:latin typeface="Aptos"/>
            </a:endParaRPr>
          </a:p>
        </p:txBody>
      </p:sp>
      <p:sp>
        <p:nvSpPr>
          <p:cNvPr id="28" name="TextBox 19"/>
          <p:cNvSpPr txBox="1"/>
          <p:nvPr/>
        </p:nvSpPr>
        <p:spPr>
          <a:xfrm>
            <a:off x="2999232" y="233172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37081"/>
                </a:solidFill>
                <a:latin typeface="Aptos"/>
              </a:rPr>
              <a:t>10 languages</a:t>
            </a:r>
            <a:endParaRPr sz="850" b="0">
              <a:solidFill>
                <a:srgbClr val="637081"/>
              </a:solidFill>
              <a:latin typeface="Aptos"/>
            </a:endParaRPr>
          </a:p>
        </p:txBody>
      </p:sp>
      <p:cxnSp>
        <p:nvCxnSpPr>
          <p:cNvPr id="29" name="Connector 20"/>
          <p:cNvCxnSpPr>
            <a:stCxn id="26" idx="3"/>
          </p:cNvCxnSpPr>
          <p:nvPr/>
        </p:nvCxnSpPr>
        <p:spPr>
          <a:xfrm>
            <a:off x="3977640" y="2331720"/>
            <a:ext cx="731520" cy="0"/>
          </a:xfrm>
          <a:prstGeom prst="line">
            <a:avLst/>
          </a:prstGeom>
          <a:ln w="27940">
            <a:solidFill>
              <a:srgbClr val="00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54880" y="1691640"/>
            <a:ext cx="1325880" cy="1280160"/>
          </a:xfrm>
          <a:prstGeom prst="roundRect">
            <a:avLst/>
          </a:prstGeom>
          <a:solidFill>
            <a:srgbClr val="F5FBF8"/>
          </a:solidFill>
          <a:ln w="12700">
            <a:solidFill>
              <a:srgbClr val="C8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22"/>
          <p:cNvSpPr txBox="1"/>
          <p:nvPr/>
        </p:nvSpPr>
        <p:spPr>
          <a:xfrm>
            <a:off x="5102352" y="1892807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9664"/>
                </a:solidFill>
                <a:latin typeface="Aptos"/>
              </a:rPr>
              <a:t>TXT</a:t>
            </a:r>
            <a:endParaRPr sz="1800" b="1">
              <a:solidFill>
                <a:srgbClr val="009664"/>
              </a:solidFill>
              <a:latin typeface="Aptos"/>
            </a:endParaRPr>
          </a:p>
        </p:txBody>
      </p:sp>
      <p:sp>
        <p:nvSpPr>
          <p:cNvPr id="32" name="TextBox 23"/>
          <p:cNvSpPr txBox="1"/>
          <p:nvPr/>
        </p:nvSpPr>
        <p:spPr>
          <a:xfrm>
            <a:off x="4901184" y="23317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37081"/>
                </a:solidFill>
                <a:latin typeface="Aptos"/>
              </a:rPr>
              <a:t>compact packet</a:t>
            </a:r>
            <a:endParaRPr sz="850" b="0">
              <a:solidFill>
                <a:srgbClr val="637081"/>
              </a:solidFill>
              <a:latin typeface="Aptos"/>
            </a:endParaRPr>
          </a:p>
        </p:txBody>
      </p:sp>
      <p:cxnSp>
        <p:nvCxnSpPr>
          <p:cNvPr id="33" name="Connector 24"/>
          <p:cNvCxnSpPr>
            <a:stCxn id="30" idx="3"/>
          </p:cNvCxnSpPr>
          <p:nvPr/>
        </p:nvCxnSpPr>
        <p:spPr>
          <a:xfrm>
            <a:off x="6080760" y="2331720"/>
            <a:ext cx="685800" cy="0"/>
          </a:xfrm>
          <a:prstGeom prst="line">
            <a:avLst/>
          </a:prstGeom>
          <a:ln w="27940">
            <a:solidFill>
              <a:srgbClr val="00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812280" y="1481328"/>
            <a:ext cx="2057400" cy="16916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FF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26"/>
          <p:cNvSpPr txBox="1"/>
          <p:nvPr/>
        </p:nvSpPr>
        <p:spPr>
          <a:xfrm>
            <a:off x="7223760" y="1709928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EF6923"/>
                </a:solidFill>
                <a:latin typeface="Aptos"/>
              </a:rPr>
              <a:t>P2P LINK</a:t>
            </a:r>
            <a:endParaRPr sz="1600" b="1">
              <a:solidFill>
                <a:srgbClr val="EF6923"/>
              </a:solidFill>
              <a:latin typeface="Aptos"/>
            </a:endParaRPr>
          </a:p>
        </p:txBody>
      </p:sp>
      <p:sp>
        <p:nvSpPr>
          <p:cNvPr id="36" name="TextBox 27"/>
          <p:cNvSpPr txBox="1"/>
          <p:nvPr/>
        </p:nvSpPr>
        <p:spPr>
          <a:xfrm>
            <a:off x="7132320" y="2084831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70" b="0">
                <a:solidFill>
                  <a:srgbClr val="172030"/>
                </a:solidFill>
                <a:latin typeface="Aptos"/>
              </a:rPr>
              <a:t>Bluetooth RFCOMM</a:t>
            </a:r>
            <a:br>
              <a:rPr sz="870" b="0">
                <a:solidFill>
                  <a:srgbClr val="172030"/>
                </a:solidFill>
                <a:latin typeface="Aptos"/>
              </a:rPr>
            </a:br>
            <a:r>
              <a:rPr sz="870" b="0">
                <a:solidFill>
                  <a:srgbClr val="172030"/>
                </a:solidFill>
                <a:latin typeface="Aptos"/>
              </a:rPr>
              <a:t>Wi‑Fi Direct TCP</a:t>
            </a:r>
            <a:br>
              <a:rPr sz="870" b="0">
                <a:solidFill>
                  <a:srgbClr val="172030"/>
                </a:solidFill>
                <a:latin typeface="Aptos"/>
              </a:rPr>
            </a:br>
            <a:r>
              <a:rPr sz="870" b="0">
                <a:solidFill>
                  <a:srgbClr val="172030"/>
                </a:solidFill>
                <a:latin typeface="Aptos"/>
              </a:rPr>
              <a:t>AES‑GCM secured</a:t>
            </a:r>
            <a:endParaRPr sz="870" b="0">
              <a:solidFill>
                <a:srgbClr val="172030"/>
              </a:solidFill>
              <a:latin typeface="Aptos"/>
            </a:endParaRPr>
          </a:p>
        </p:txBody>
      </p:sp>
      <p:cxnSp>
        <p:nvCxnSpPr>
          <p:cNvPr id="37" name="Connector 28"/>
          <p:cNvCxnSpPr/>
          <p:nvPr/>
        </p:nvCxnSpPr>
        <p:spPr>
          <a:xfrm>
            <a:off x="8869553" y="2331720"/>
            <a:ext cx="429895" cy="0"/>
          </a:xfrm>
          <a:prstGeom prst="line">
            <a:avLst/>
          </a:prstGeom>
          <a:ln w="27940">
            <a:solidFill>
              <a:srgbClr val="00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326880" y="1691640"/>
            <a:ext cx="1051560" cy="128016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BED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0"/>
          <p:cNvSpPr txBox="1"/>
          <p:nvPr/>
        </p:nvSpPr>
        <p:spPr>
          <a:xfrm>
            <a:off x="9573768" y="189280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76D2"/>
                </a:solidFill>
                <a:latin typeface="Aptos"/>
              </a:rPr>
              <a:t>TTS</a:t>
            </a:r>
            <a:endParaRPr sz="1800" b="1">
              <a:solidFill>
                <a:srgbClr val="0076D2"/>
              </a:solidFill>
              <a:latin typeface="Aptos"/>
            </a:endParaRPr>
          </a:p>
        </p:txBody>
      </p:sp>
      <p:sp>
        <p:nvSpPr>
          <p:cNvPr id="40" name="TextBox 31"/>
          <p:cNvSpPr txBox="1"/>
          <p:nvPr/>
        </p:nvSpPr>
        <p:spPr>
          <a:xfrm>
            <a:off x="9464040" y="233172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37081"/>
                </a:solidFill>
                <a:latin typeface="Aptos"/>
              </a:rPr>
              <a:t>10 languages</a:t>
            </a:r>
            <a:endParaRPr sz="85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41" name="TextBox 32"/>
          <p:cNvSpPr txBox="1"/>
          <p:nvPr/>
        </p:nvSpPr>
        <p:spPr>
          <a:xfrm>
            <a:off x="777240" y="449884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76D2"/>
                </a:solidFill>
                <a:latin typeface="Aptos"/>
              </a:rPr>
              <a:t>FEASIBILITY PROOF POINTS</a:t>
            </a:r>
            <a:endParaRPr sz="1200" b="1">
              <a:solidFill>
                <a:srgbClr val="0076D2"/>
              </a:solidFill>
              <a:latin typeface="Aptos"/>
            </a:endParaRPr>
          </a:p>
        </p:txBody>
      </p:sp>
      <p:sp>
        <p:nvSpPr>
          <p:cNvPr id="42" name="TextBox 33"/>
          <p:cNvSpPr txBox="1"/>
          <p:nvPr/>
        </p:nvSpPr>
        <p:spPr>
          <a:xfrm>
            <a:off x="777240" y="4892040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>
                <a:solidFill>
                  <a:srgbClr val="009664"/>
                </a:solidFill>
                <a:latin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</a:endParaRPr>
          </a:p>
        </p:txBody>
      </p:sp>
      <p:sp>
        <p:nvSpPr>
          <p:cNvPr id="43" name="TextBox 34"/>
          <p:cNvSpPr txBox="1"/>
          <p:nvPr/>
        </p:nvSpPr>
        <p:spPr>
          <a:xfrm>
            <a:off x="1005840" y="48920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72030"/>
                </a:solidFill>
                <a:latin typeface="Aptos"/>
              </a:rPr>
              <a:t>Offline operation</a:t>
            </a:r>
            <a:endParaRPr sz="1020" b="0">
              <a:solidFill>
                <a:srgbClr val="172030"/>
              </a:solidFill>
              <a:latin typeface="Aptos"/>
            </a:endParaRPr>
          </a:p>
        </p:txBody>
      </p:sp>
      <p:sp>
        <p:nvSpPr>
          <p:cNvPr id="44" name="TextBox 35"/>
          <p:cNvSpPr txBox="1"/>
          <p:nvPr/>
        </p:nvSpPr>
        <p:spPr>
          <a:xfrm>
            <a:off x="2194560" y="4901183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0" b="0">
                <a:solidFill>
                  <a:srgbClr val="637081"/>
                </a:solidFill>
                <a:latin typeface="Aptos"/>
              </a:rPr>
              <a:t>STT/TTS models run on device</a:t>
            </a:r>
            <a:endParaRPr sz="87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45" name="TextBox 36"/>
          <p:cNvSpPr txBox="1"/>
          <p:nvPr/>
        </p:nvSpPr>
        <p:spPr>
          <a:xfrm>
            <a:off x="4480559" y="4892040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>
                <a:solidFill>
                  <a:srgbClr val="009664"/>
                </a:solidFill>
                <a:latin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</a:endParaRPr>
          </a:p>
        </p:txBody>
      </p:sp>
      <p:sp>
        <p:nvSpPr>
          <p:cNvPr id="46" name="TextBox 37"/>
          <p:cNvSpPr txBox="1"/>
          <p:nvPr/>
        </p:nvSpPr>
        <p:spPr>
          <a:xfrm>
            <a:off x="4709159" y="48920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72030"/>
                </a:solidFill>
                <a:latin typeface="Aptos"/>
              </a:rPr>
              <a:t>Low payload</a:t>
            </a:r>
            <a:endParaRPr sz="1020" b="0">
              <a:solidFill>
                <a:srgbClr val="172030"/>
              </a:solidFill>
              <a:latin typeface="Aptos"/>
            </a:endParaRPr>
          </a:p>
        </p:txBody>
      </p:sp>
      <p:sp>
        <p:nvSpPr>
          <p:cNvPr id="47" name="TextBox 38"/>
          <p:cNvSpPr txBox="1"/>
          <p:nvPr/>
        </p:nvSpPr>
        <p:spPr>
          <a:xfrm>
            <a:off x="5897879" y="4901183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0" b="0">
                <a:solidFill>
                  <a:srgbClr val="637081"/>
                </a:solidFill>
                <a:latin typeface="Aptos"/>
              </a:rPr>
              <a:t>Voice converted to compact text</a:t>
            </a:r>
            <a:endParaRPr sz="87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48" name="TextBox 39"/>
          <p:cNvSpPr txBox="1"/>
          <p:nvPr/>
        </p:nvSpPr>
        <p:spPr>
          <a:xfrm>
            <a:off x="8183879" y="4892040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>
                <a:solidFill>
                  <a:srgbClr val="009664"/>
                </a:solidFill>
                <a:latin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</a:endParaRPr>
          </a:p>
        </p:txBody>
      </p:sp>
      <p:sp>
        <p:nvSpPr>
          <p:cNvPr id="49" name="TextBox 40"/>
          <p:cNvSpPr txBox="1"/>
          <p:nvPr/>
        </p:nvSpPr>
        <p:spPr>
          <a:xfrm>
            <a:off x="8412480" y="48920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72030"/>
                </a:solidFill>
                <a:latin typeface="Aptos"/>
              </a:rPr>
              <a:t>Field modes</a:t>
            </a:r>
            <a:endParaRPr sz="1020" b="0">
              <a:solidFill>
                <a:srgbClr val="172030"/>
              </a:solidFill>
              <a:latin typeface="Aptos"/>
            </a:endParaRPr>
          </a:p>
        </p:txBody>
      </p:sp>
      <p:sp>
        <p:nvSpPr>
          <p:cNvPr id="50" name="TextBox 41"/>
          <p:cNvSpPr txBox="1"/>
          <p:nvPr/>
        </p:nvSpPr>
        <p:spPr>
          <a:xfrm>
            <a:off x="9601200" y="4901183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0" b="0">
                <a:solidFill>
                  <a:srgbClr val="637081"/>
                </a:solidFill>
                <a:latin typeface="Aptos"/>
              </a:rPr>
              <a:t>PTT and continuous conversation</a:t>
            </a:r>
            <a:endParaRPr sz="87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51" name="TextBox 42"/>
          <p:cNvSpPr txBox="1"/>
          <p:nvPr/>
        </p:nvSpPr>
        <p:spPr>
          <a:xfrm>
            <a:off x="777240" y="5385816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>
                <a:solidFill>
                  <a:srgbClr val="009664"/>
                </a:solidFill>
                <a:latin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</a:endParaRPr>
          </a:p>
        </p:txBody>
      </p:sp>
      <p:sp>
        <p:nvSpPr>
          <p:cNvPr id="52" name="TextBox 43"/>
          <p:cNvSpPr txBox="1"/>
          <p:nvPr/>
        </p:nvSpPr>
        <p:spPr>
          <a:xfrm>
            <a:off x="1005840" y="538581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72030"/>
                </a:solidFill>
                <a:latin typeface="Aptos"/>
              </a:rPr>
              <a:t>Emergency alert</a:t>
            </a:r>
            <a:endParaRPr sz="1020" b="0">
              <a:solidFill>
                <a:srgbClr val="172030"/>
              </a:solidFill>
              <a:latin typeface="Aptos"/>
            </a:endParaRPr>
          </a:p>
        </p:txBody>
      </p:sp>
      <p:sp>
        <p:nvSpPr>
          <p:cNvPr id="53" name="TextBox 44"/>
          <p:cNvSpPr txBox="1"/>
          <p:nvPr/>
        </p:nvSpPr>
        <p:spPr>
          <a:xfrm>
            <a:off x="2194560" y="5394959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0" b="0">
                <a:solidFill>
                  <a:srgbClr val="637081"/>
                </a:solidFill>
                <a:latin typeface="Aptos"/>
              </a:rPr>
              <a:t>Priority compact codes + playback</a:t>
            </a:r>
            <a:endParaRPr sz="87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54" name="TextBox 45"/>
          <p:cNvSpPr txBox="1"/>
          <p:nvPr/>
        </p:nvSpPr>
        <p:spPr>
          <a:xfrm>
            <a:off x="4480559" y="5385816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>
                <a:solidFill>
                  <a:srgbClr val="009664"/>
                </a:solidFill>
                <a:latin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</a:endParaRPr>
          </a:p>
        </p:txBody>
      </p:sp>
      <p:sp>
        <p:nvSpPr>
          <p:cNvPr id="55" name="TextBox 46"/>
          <p:cNvSpPr txBox="1"/>
          <p:nvPr/>
        </p:nvSpPr>
        <p:spPr>
          <a:xfrm>
            <a:off x="4709159" y="538581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72030"/>
                </a:solidFill>
                <a:latin typeface="Aptos"/>
              </a:rPr>
              <a:t>Security</a:t>
            </a:r>
            <a:endParaRPr sz="1020" b="0">
              <a:solidFill>
                <a:srgbClr val="172030"/>
              </a:solidFill>
              <a:latin typeface="Aptos"/>
            </a:endParaRPr>
          </a:p>
        </p:txBody>
      </p:sp>
      <p:sp>
        <p:nvSpPr>
          <p:cNvPr id="56" name="TextBox 47"/>
          <p:cNvSpPr txBox="1"/>
          <p:nvPr/>
        </p:nvSpPr>
        <p:spPr>
          <a:xfrm>
            <a:off x="5897879" y="5394959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0" b="0">
                <a:solidFill>
                  <a:srgbClr val="637081"/>
                </a:solidFill>
                <a:latin typeface="Aptos"/>
              </a:rPr>
              <a:t>SAS verified encrypted session</a:t>
            </a:r>
            <a:endParaRPr sz="87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57" name="TextBox 48"/>
          <p:cNvSpPr txBox="1"/>
          <p:nvPr/>
        </p:nvSpPr>
        <p:spPr>
          <a:xfrm>
            <a:off x="8183879" y="5385816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>
                <a:solidFill>
                  <a:srgbClr val="009664"/>
                </a:solidFill>
                <a:latin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</a:endParaRPr>
          </a:p>
        </p:txBody>
      </p:sp>
      <p:sp>
        <p:nvSpPr>
          <p:cNvPr id="58" name="TextBox 49"/>
          <p:cNvSpPr txBox="1"/>
          <p:nvPr/>
        </p:nvSpPr>
        <p:spPr>
          <a:xfrm>
            <a:off x="8412480" y="538581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72030"/>
                </a:solidFill>
                <a:latin typeface="Aptos"/>
              </a:rPr>
              <a:t>Practical hardware</a:t>
            </a:r>
            <a:endParaRPr sz="1020" b="0">
              <a:solidFill>
                <a:srgbClr val="172030"/>
              </a:solidFill>
              <a:latin typeface="Aptos"/>
            </a:endParaRPr>
          </a:p>
        </p:txBody>
      </p:sp>
      <p:sp>
        <p:nvSpPr>
          <p:cNvPr id="59" name="TextBox 50"/>
          <p:cNvSpPr txBox="1"/>
          <p:nvPr/>
        </p:nvSpPr>
        <p:spPr>
          <a:xfrm>
            <a:off x="9601200" y="5394959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0" b="0">
                <a:solidFill>
                  <a:srgbClr val="637081"/>
                </a:solidFill>
                <a:latin typeface="Aptos"/>
              </a:rPr>
              <a:t>Standard Android devices</a:t>
            </a:r>
            <a:endParaRPr sz="870" b="0">
              <a:solidFill>
                <a:srgbClr val="637081"/>
              </a:solidFill>
              <a:latin typeface="Aptos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989320"/>
            <a:ext cx="10515600" cy="320040"/>
          </a:xfrm>
          <a:prstGeom prst="roundRect">
            <a:avLst/>
          </a:prstGeom>
          <a:solidFill>
            <a:srgbClr val="E7F4FF"/>
          </a:solidFill>
          <a:ln w="12700">
            <a:solidFill>
              <a:srgbClr val="C6E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52"/>
          <p:cNvSpPr txBox="1"/>
          <p:nvPr/>
        </p:nvSpPr>
        <p:spPr>
          <a:xfrm>
            <a:off x="960120" y="6071616"/>
            <a:ext cx="10012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A2348"/>
                </a:solidFill>
                <a:latin typeface="Aptos"/>
              </a:rPr>
              <a:t>Demo metrics to show: STT accuracy/WER • packet size saved vs audio • latency • RAM • two-phone delivery test</a:t>
            </a:r>
            <a:endParaRPr sz="950" b="0">
              <a:solidFill>
                <a:srgbClr val="0A2348"/>
              </a:solidFill>
              <a:latin typeface="Aptos"/>
            </a:endParaRPr>
          </a:p>
        </p:txBody>
      </p:sp>
      <p:cxnSp>
        <p:nvCxnSpPr>
          <p:cNvPr id="62" name="Connector 28"/>
          <p:cNvCxnSpPr/>
          <p:nvPr/>
        </p:nvCxnSpPr>
        <p:spPr>
          <a:xfrm>
            <a:off x="10378313" y="2458720"/>
            <a:ext cx="411480" cy="0"/>
          </a:xfrm>
          <a:prstGeom prst="line">
            <a:avLst/>
          </a:prstGeom>
          <a:ln w="27940">
            <a:solidFill>
              <a:srgbClr val="00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Bit</a:t>
            </a:r>
            <a:endParaRPr lang="en-IN" dirty="0"/>
          </a:p>
        </p:txBody>
      </p:sp>
      <p:sp>
        <p:nvSpPr>
          <p:cNvPr id="63" name="TextBox 62"/>
          <p:cNvSpPr txBox="1"/>
          <p:nvPr/>
        </p:nvSpPr>
        <p:spPr>
          <a:xfrm>
            <a:off x="658368" y="1097280"/>
            <a:ext cx="4937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37081"/>
                </a:solidFill>
                <a:latin typeface="Aptos"/>
              </a:rPr>
              <a:t>TECHNICAL APPROACH &amp; FEASIBILITY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8840" y="370332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6D2"/>
                </a:solidFill>
                <a:latin typeface="Aptos"/>
              </a:rPr>
              <a:t>RISKS &amp; MITIGATION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48840" y="3931920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76D2"/>
                </a:solidFill>
                <a:latin typeface="Aptos"/>
              </a:rPr>
              <a:t>STT accuracy
VAD noise gating + confidence threshold; flag low-confidence phrases for repeat.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3931920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76D2"/>
                </a:solidFill>
                <a:latin typeface="Aptos"/>
              </a:rPr>
              <a:t>Short range
ACK/retry improves reliability; LoRa relay path is scoped for future range extension.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0840" y="3931920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76D2"/>
                </a:solidFill>
                <a:latin typeface="Aptos"/>
              </a:rPr>
              <a:t>10-language models
Load only the selected language pack at runtime to reduce RAM/storage pressure.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3931920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76D2"/>
                </a:solidFill>
                <a:latin typeface="Aptos"/>
              </a:rPr>
              <a:t>Battery drain
VAD gates STT/TTS so processing runs during speech instead of continuously.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-59055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US" sz="2800" b="1" i="1" u="sng" dirty="0">
              <a:latin typeface="ROG Fonts" panose="00000500000000000000" pitchFamily="50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533" y="-18723"/>
            <a:ext cx="1819192" cy="858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9953" y="6291707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B74C8"/>
                </a:solidFill>
                <a:latin typeface="Inter"/>
              </a:rPr>
              <a:t>IMPACT + DEPLOYMENT</a:t>
            </a:r>
            <a:endParaRPr sz="10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09473" y="96875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102A43"/>
                </a:solidFill>
                <a:latin typeface="Inter"/>
              </a:rPr>
              <a:t>WHO NEEDS iTANTRA — AND WHY IT MATTERS</a:t>
            </a:r>
            <a:endParaRPr sz="2600" b="1" i="0">
              <a:solidFill>
                <a:srgbClr val="102A43"/>
              </a:solidFill>
              <a:latin typeface="Inter"/>
            </a:endParaRPr>
          </a:p>
        </p:txBody>
      </p:sp>
      <p:pic>
        <p:nvPicPr>
          <p:cNvPr id="13" name="Picture 12" descr="_crop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3352"/>
            <a:ext cx="4800600" cy="33101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1673352"/>
            <a:ext cx="4800600" cy="331012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1883664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EE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9"/>
          <p:cNvSpPr txBox="1"/>
          <p:nvPr/>
        </p:nvSpPr>
        <p:spPr>
          <a:xfrm>
            <a:off x="941832" y="1901952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0B74C8"/>
                </a:solidFill>
                <a:latin typeface="Inter"/>
              </a:rPr>
              <a:t>REMOTE / LOW-CONNECTIVITY FIELD</a:t>
            </a:r>
            <a:endParaRPr sz="83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17" name="TextBox 10"/>
          <p:cNvSpPr txBox="1"/>
          <p:nvPr/>
        </p:nvSpPr>
        <p:spPr>
          <a:xfrm>
            <a:off x="5852160" y="1719072"/>
            <a:ext cx="1234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B74C8"/>
                </a:solidFill>
                <a:latin typeface="Inter"/>
              </a:rPr>
              <a:t>VOICE IN</a:t>
            </a:r>
            <a:endParaRPr sz="12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18" name="TextBox 11"/>
          <p:cNvSpPr txBox="1"/>
          <p:nvPr/>
        </p:nvSpPr>
        <p:spPr>
          <a:xfrm>
            <a:off x="6903720" y="1664208"/>
            <a:ext cx="411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9FB4C5"/>
                </a:solidFill>
                <a:latin typeface="Inter"/>
              </a:rPr>
              <a:t>→</a:t>
            </a:r>
            <a:endParaRPr sz="2000" b="1" i="0">
              <a:solidFill>
                <a:srgbClr val="9FB4C5"/>
              </a:solidFill>
              <a:latin typeface="Inter"/>
            </a:endParaRPr>
          </a:p>
        </p:txBody>
      </p:sp>
      <p:sp>
        <p:nvSpPr>
          <p:cNvPr id="19" name="TextBox 12"/>
          <p:cNvSpPr txBox="1"/>
          <p:nvPr/>
        </p:nvSpPr>
        <p:spPr>
          <a:xfrm>
            <a:off x="7360920" y="1719072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36F21"/>
                </a:solidFill>
                <a:latin typeface="Inter"/>
              </a:rPr>
              <a:t>TINY DATA</a:t>
            </a:r>
            <a:endParaRPr sz="1200" b="1" i="0">
              <a:solidFill>
                <a:srgbClr val="F36F21"/>
              </a:solidFill>
              <a:latin typeface="Inter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8668512" y="1664208"/>
            <a:ext cx="411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9FB4C5"/>
                </a:solidFill>
                <a:latin typeface="Inter"/>
              </a:rPr>
              <a:t>→</a:t>
            </a:r>
            <a:endParaRPr sz="2000" b="1" i="0">
              <a:solidFill>
                <a:srgbClr val="9FB4C5"/>
              </a:solidFill>
              <a:latin typeface="Inter"/>
            </a:endParaRPr>
          </a:p>
        </p:txBody>
      </p:sp>
      <p:sp>
        <p:nvSpPr>
          <p:cNvPr id="21" name="TextBox 14"/>
          <p:cNvSpPr txBox="1"/>
          <p:nvPr/>
        </p:nvSpPr>
        <p:spPr>
          <a:xfrm>
            <a:off x="9125712" y="17190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6A085"/>
                </a:solidFill>
                <a:latin typeface="Inter"/>
              </a:rPr>
              <a:t>VOICE OUT</a:t>
            </a:r>
            <a:endParaRPr sz="1200" b="1" i="0">
              <a:solidFill>
                <a:srgbClr val="16A085"/>
              </a:solidFill>
              <a:latin typeface="Inter"/>
            </a:endParaRPr>
          </a:p>
        </p:txBody>
      </p:sp>
      <p:sp>
        <p:nvSpPr>
          <p:cNvPr id="22" name="TextBox 15"/>
          <p:cNvSpPr txBox="1"/>
          <p:nvPr/>
        </p:nvSpPr>
        <p:spPr>
          <a:xfrm>
            <a:off x="5852160" y="2121408"/>
            <a:ext cx="52303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2A43"/>
                </a:solidFill>
                <a:latin typeface="Inter"/>
              </a:rPr>
              <a:t>The receiver still hears speech; the link only carries compact information.</a:t>
            </a:r>
            <a:endParaRPr sz="160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23" name="TextBox 16"/>
          <p:cNvSpPr txBox="1"/>
          <p:nvPr/>
        </p:nvSpPr>
        <p:spPr>
          <a:xfrm>
            <a:off x="5852160" y="2743200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B74C8"/>
                </a:solidFill>
                <a:latin typeface="Inter"/>
              </a:rPr>
              <a:t>DEPLOYMENT SCENARIOS</a:t>
            </a:r>
            <a:endParaRPr sz="10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52160" y="3099816"/>
            <a:ext cx="1481328" cy="310896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18"/>
          <p:cNvSpPr txBox="1"/>
          <p:nvPr/>
        </p:nvSpPr>
        <p:spPr>
          <a:xfrm>
            <a:off x="5897880" y="3118104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102A43"/>
                </a:solidFill>
                <a:latin typeface="Inter"/>
              </a:rPr>
              <a:t>Disaster response</a:t>
            </a:r>
            <a:endParaRPr sz="84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44383" y="3099816"/>
            <a:ext cx="1481328" cy="310896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0"/>
          <p:cNvSpPr txBox="1"/>
          <p:nvPr/>
        </p:nvSpPr>
        <p:spPr>
          <a:xfrm>
            <a:off x="7690104" y="3118104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102A43"/>
                </a:solidFill>
                <a:latin typeface="Inter"/>
              </a:rPr>
              <a:t>Remote rescue</a:t>
            </a:r>
            <a:endParaRPr sz="84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290304" y="3099816"/>
            <a:ext cx="1517904" cy="310896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2"/>
          <p:cNvSpPr txBox="1"/>
          <p:nvPr/>
        </p:nvSpPr>
        <p:spPr>
          <a:xfrm>
            <a:off x="9336024" y="3118104"/>
            <a:ext cx="1426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102A43"/>
                </a:solidFill>
                <a:latin typeface="Inter"/>
              </a:rPr>
              <a:t>Forest operations</a:t>
            </a:r>
            <a:endParaRPr sz="84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52160" y="3575304"/>
            <a:ext cx="1481328" cy="310896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24"/>
          <p:cNvSpPr txBox="1"/>
          <p:nvPr/>
        </p:nvSpPr>
        <p:spPr>
          <a:xfrm>
            <a:off x="5897880" y="3593592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102A43"/>
                </a:solidFill>
                <a:latin typeface="Inter"/>
              </a:rPr>
              <a:t>Maritime / field teams</a:t>
            </a:r>
            <a:endParaRPr sz="84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644383" y="3575304"/>
            <a:ext cx="1481328" cy="310896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26"/>
          <p:cNvSpPr txBox="1"/>
          <p:nvPr/>
        </p:nvSpPr>
        <p:spPr>
          <a:xfrm>
            <a:off x="7690104" y="3593592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102A43"/>
                </a:solidFill>
                <a:latin typeface="Inter"/>
              </a:rPr>
              <a:t>Industrial emergencies</a:t>
            </a:r>
            <a:endParaRPr sz="84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90304" y="3575304"/>
            <a:ext cx="1517904" cy="310896"/>
          </a:xfrm>
          <a:prstGeom prst="roundRect">
            <a:avLst>
              <a:gd name="adj" fmla="val 8000"/>
            </a:avLst>
          </a:prstGeom>
          <a:solidFill>
            <a:srgbClr val="F5F9FC"/>
          </a:solidFill>
          <a:ln w="12700">
            <a:solidFill>
              <a:srgbClr val="DF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28"/>
          <p:cNvSpPr txBox="1"/>
          <p:nvPr/>
        </p:nvSpPr>
        <p:spPr>
          <a:xfrm>
            <a:off x="9336024" y="3593592"/>
            <a:ext cx="1426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102A43"/>
                </a:solidFill>
                <a:latin typeface="Inter"/>
              </a:rPr>
              <a:t>Security operations</a:t>
            </a:r>
            <a:endParaRPr sz="84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870575" y="4288790"/>
            <a:ext cx="5212080" cy="676275"/>
          </a:xfrm>
          <a:prstGeom prst="roundRect">
            <a:avLst>
              <a:gd name="adj" fmla="val 8000"/>
            </a:avLst>
          </a:prstGeom>
          <a:solidFill>
            <a:srgbClr val="F8FBFD"/>
          </a:solidFill>
          <a:ln w="1270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0"/>
          <p:cNvSpPr txBox="1"/>
          <p:nvPr/>
        </p:nvSpPr>
        <p:spPr>
          <a:xfrm>
            <a:off x="6071616" y="4288536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B74C8"/>
                </a:solidFill>
                <a:latin typeface="Inter"/>
              </a:rPr>
              <a:t>10-LANGUAGE EXPERIENCE</a:t>
            </a:r>
            <a:endParaRPr sz="9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38" name="TextBox 31"/>
          <p:cNvSpPr txBox="1"/>
          <p:nvPr/>
        </p:nvSpPr>
        <p:spPr>
          <a:xfrm>
            <a:off x="6071616" y="4507992"/>
            <a:ext cx="47000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03040"/>
                </a:solidFill>
                <a:latin typeface="Inter"/>
              </a:rPr>
              <a:t>Speak in any supported language → compact text moves → speech is reconstructed at the receiver.</a:t>
            </a:r>
            <a:endParaRPr sz="1050" b="1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0080" y="5505450"/>
            <a:ext cx="10789920" cy="786384"/>
          </a:xfrm>
          <a:prstGeom prst="roundRect">
            <a:avLst>
              <a:gd name="adj" fmla="val 8000"/>
            </a:avLst>
          </a:prstGeom>
          <a:solidFill>
            <a:srgbClr val="EEF6FB"/>
          </a:solidFill>
          <a:ln w="12700"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3"/>
          <p:cNvSpPr txBox="1"/>
          <p:nvPr/>
        </p:nvSpPr>
        <p:spPr>
          <a:xfrm>
            <a:off x="868680" y="5458968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20" b="1" i="0">
                <a:solidFill>
                  <a:srgbClr val="0B74C8"/>
                </a:solidFill>
                <a:latin typeface="Inter"/>
              </a:rPr>
              <a:t>Accessible</a:t>
            </a:r>
            <a:endParaRPr sz="102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41" name="TextBox 34"/>
          <p:cNvSpPr txBox="1"/>
          <p:nvPr/>
        </p:nvSpPr>
        <p:spPr>
          <a:xfrm>
            <a:off x="868680" y="5687568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i="0">
                <a:solidFill>
                  <a:srgbClr val="203040"/>
                </a:solidFill>
                <a:latin typeface="Inter"/>
              </a:rPr>
              <a:t>Spoken output</a:t>
            </a:r>
            <a:endParaRPr sz="880" b="0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42" name="TextBox 35"/>
          <p:cNvSpPr txBox="1"/>
          <p:nvPr/>
        </p:nvSpPr>
        <p:spPr>
          <a:xfrm>
            <a:off x="3502152" y="5458968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20" b="1" i="0">
                <a:solidFill>
                  <a:srgbClr val="0B74C8"/>
                </a:solidFill>
                <a:latin typeface="Inter"/>
              </a:rPr>
              <a:t>Efficient</a:t>
            </a:r>
            <a:endParaRPr sz="102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43" name="TextBox 36"/>
          <p:cNvSpPr txBox="1"/>
          <p:nvPr/>
        </p:nvSpPr>
        <p:spPr>
          <a:xfrm>
            <a:off x="3502152" y="5687568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i="0">
                <a:solidFill>
                  <a:srgbClr val="203040"/>
                </a:solidFill>
                <a:latin typeface="Inter"/>
              </a:rPr>
              <a:t>Less radio payload</a:t>
            </a:r>
            <a:endParaRPr sz="880" b="0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44" name="TextBox 37"/>
          <p:cNvSpPr txBox="1"/>
          <p:nvPr/>
        </p:nvSpPr>
        <p:spPr>
          <a:xfrm>
            <a:off x="6135624" y="5458968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20" b="1" i="0">
                <a:solidFill>
                  <a:srgbClr val="0B74C8"/>
                </a:solidFill>
                <a:latin typeface="Inter"/>
              </a:rPr>
              <a:t>Private</a:t>
            </a:r>
            <a:endParaRPr sz="102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6135624" y="5687568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i="0">
                <a:solidFill>
                  <a:srgbClr val="203040"/>
                </a:solidFill>
                <a:latin typeface="Inter"/>
              </a:rPr>
              <a:t>Local processing</a:t>
            </a:r>
            <a:endParaRPr sz="880" b="0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46" name="TextBox 39"/>
          <p:cNvSpPr txBox="1"/>
          <p:nvPr/>
        </p:nvSpPr>
        <p:spPr>
          <a:xfrm>
            <a:off x="8769096" y="5458968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20" b="1" i="0">
                <a:solidFill>
                  <a:srgbClr val="0B74C8"/>
                </a:solidFill>
                <a:latin typeface="Inter"/>
              </a:rPr>
              <a:t>Practical</a:t>
            </a:r>
            <a:endParaRPr sz="102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47" name="TextBox 40"/>
          <p:cNvSpPr txBox="1"/>
          <p:nvPr/>
        </p:nvSpPr>
        <p:spPr>
          <a:xfrm>
            <a:off x="8769096" y="5687568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i="0">
                <a:solidFill>
                  <a:srgbClr val="203040"/>
                </a:solidFill>
                <a:latin typeface="Inter"/>
              </a:rPr>
              <a:t>Existing Android devices</a:t>
            </a:r>
            <a:endParaRPr sz="880" b="0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50" name="TextBox 43"/>
          <p:cNvSpPr txBox="1"/>
          <p:nvPr/>
        </p:nvSpPr>
        <p:spPr>
          <a:xfrm>
            <a:off x="10972800" y="6556248"/>
            <a:ext cx="64008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7E8C99"/>
                </a:solidFill>
                <a:latin typeface="Inter"/>
              </a:rPr>
              <a:t>4/6</a:t>
            </a:r>
            <a:endParaRPr sz="800" b="0" i="0">
              <a:solidFill>
                <a:srgbClr val="7E8C99"/>
              </a:solidFill>
              <a:latin typeface="Inter"/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Bit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400" y="41653"/>
            <a:ext cx="1793736" cy="8469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100" y="124460"/>
            <a:ext cx="87610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2800" b="1" i="1" u="sng" dirty="0">
              <a:latin typeface="ROG Fonts" panose="00000500000000000000" pitchFamily="50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6928" y="6291707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B74C8"/>
                </a:solidFill>
                <a:latin typeface="Inter"/>
              </a:rPr>
              <a:t>SYSTEM ARCHITECTURE</a:t>
            </a:r>
            <a:endParaRPr sz="10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566928" y="894461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102A43"/>
                </a:solidFill>
                <a:latin typeface="Inter"/>
              </a:rPr>
              <a:t>HOW iTANTRA WORKS — END TO END</a:t>
            </a:r>
            <a:endParaRPr sz="260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89888" y="1489075"/>
            <a:ext cx="438912" cy="41148"/>
          </a:xfrm>
          <a:prstGeom prst="rect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673" y="1489075"/>
            <a:ext cx="164592" cy="41148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6"/>
          <p:cNvSpPr txBox="1"/>
          <p:nvPr/>
        </p:nvSpPr>
        <p:spPr>
          <a:xfrm>
            <a:off x="1390015" y="16276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B74C8"/>
                </a:solidFill>
                <a:latin typeface="Inter"/>
              </a:rPr>
              <a:t>CORE OFFLINE PIPELINE</a:t>
            </a:r>
            <a:endParaRPr sz="10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3816" y="2066544"/>
            <a:ext cx="658368" cy="65836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8"/>
          <p:cNvSpPr txBox="1"/>
          <p:nvPr/>
        </p:nvSpPr>
        <p:spPr>
          <a:xfrm>
            <a:off x="868680" y="218541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MIC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5" name="TextBox 9"/>
          <p:cNvSpPr txBox="1"/>
          <p:nvPr/>
        </p:nvSpPr>
        <p:spPr>
          <a:xfrm>
            <a:off x="640080" y="2834640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1" i="0">
                <a:solidFill>
                  <a:srgbClr val="203040"/>
                </a:solidFill>
                <a:latin typeface="Inter"/>
              </a:rPr>
              <a:t>Speech</a:t>
            </a:r>
            <a:endParaRPr sz="96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16" name="Connector 10"/>
          <p:cNvCxnSpPr/>
          <p:nvPr/>
        </p:nvCxnSpPr>
        <p:spPr>
          <a:xfrm>
            <a:off x="1472184" y="2395728"/>
            <a:ext cx="914400" cy="0"/>
          </a:xfrm>
          <a:prstGeom prst="line">
            <a:avLst/>
          </a:prstGeom>
          <a:ln w="20320">
            <a:solidFill>
              <a:srgbClr val="B7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86584" y="2066544"/>
            <a:ext cx="658368" cy="65836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2"/>
          <p:cNvSpPr txBox="1"/>
          <p:nvPr/>
        </p:nvSpPr>
        <p:spPr>
          <a:xfrm>
            <a:off x="2441448" y="218541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VAD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2212848" y="2834640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1" i="0">
                <a:solidFill>
                  <a:srgbClr val="203040"/>
                </a:solidFill>
                <a:latin typeface="Inter"/>
              </a:rPr>
              <a:t>Pause / stop
detection</a:t>
            </a:r>
            <a:endParaRPr sz="96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21" name="Connector 14"/>
          <p:cNvCxnSpPr/>
          <p:nvPr/>
        </p:nvCxnSpPr>
        <p:spPr>
          <a:xfrm>
            <a:off x="3044952" y="2395728"/>
            <a:ext cx="914400" cy="0"/>
          </a:xfrm>
          <a:prstGeom prst="line">
            <a:avLst/>
          </a:prstGeom>
          <a:ln w="20320">
            <a:solidFill>
              <a:srgbClr val="B7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959351" y="2066544"/>
            <a:ext cx="658368" cy="65836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16"/>
          <p:cNvSpPr txBox="1"/>
          <p:nvPr/>
        </p:nvSpPr>
        <p:spPr>
          <a:xfrm>
            <a:off x="4014215" y="218541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STT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4" name="TextBox 17"/>
          <p:cNvSpPr txBox="1"/>
          <p:nvPr/>
        </p:nvSpPr>
        <p:spPr>
          <a:xfrm>
            <a:off x="3785615" y="2834640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1" i="0">
                <a:solidFill>
                  <a:srgbClr val="203040"/>
                </a:solidFill>
                <a:latin typeface="Inter"/>
              </a:rPr>
              <a:t>10-language
STT</a:t>
            </a:r>
            <a:endParaRPr sz="96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25" name="Connector 18"/>
          <p:cNvCxnSpPr/>
          <p:nvPr/>
        </p:nvCxnSpPr>
        <p:spPr>
          <a:xfrm>
            <a:off x="4617720" y="2395728"/>
            <a:ext cx="914400" cy="0"/>
          </a:xfrm>
          <a:prstGeom prst="line">
            <a:avLst/>
          </a:prstGeom>
          <a:ln w="20320">
            <a:solidFill>
              <a:srgbClr val="B7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532120" y="2066544"/>
            <a:ext cx="658368" cy="658368"/>
          </a:xfrm>
          <a:prstGeom prst="ellipse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0"/>
          <p:cNvSpPr txBox="1"/>
          <p:nvPr/>
        </p:nvSpPr>
        <p:spPr>
          <a:xfrm>
            <a:off x="5586984" y="218541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TXT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8" name="TextBox 21"/>
          <p:cNvSpPr txBox="1"/>
          <p:nvPr/>
        </p:nvSpPr>
        <p:spPr>
          <a:xfrm>
            <a:off x="5358384" y="2834640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1" i="0">
                <a:solidFill>
                  <a:srgbClr val="203040"/>
                </a:solidFill>
                <a:latin typeface="Inter"/>
              </a:rPr>
              <a:t>Compact
packet</a:t>
            </a:r>
            <a:endParaRPr sz="96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29" name="Connector 22"/>
          <p:cNvCxnSpPr/>
          <p:nvPr/>
        </p:nvCxnSpPr>
        <p:spPr>
          <a:xfrm>
            <a:off x="6190488" y="2395728"/>
            <a:ext cx="914400" cy="0"/>
          </a:xfrm>
          <a:prstGeom prst="line">
            <a:avLst/>
          </a:prstGeom>
          <a:ln w="20320">
            <a:solidFill>
              <a:srgbClr val="B7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104888" y="2066544"/>
            <a:ext cx="658368" cy="658368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24"/>
          <p:cNvSpPr txBox="1"/>
          <p:nvPr/>
        </p:nvSpPr>
        <p:spPr>
          <a:xfrm>
            <a:off x="7159752" y="218541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P2P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2" name="TextBox 25"/>
          <p:cNvSpPr txBox="1"/>
          <p:nvPr/>
        </p:nvSpPr>
        <p:spPr>
          <a:xfrm>
            <a:off x="6931152" y="2834640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1" i="0">
                <a:solidFill>
                  <a:srgbClr val="203040"/>
                </a:solidFill>
                <a:latin typeface="Inter"/>
              </a:rPr>
              <a:t>Bluetooth /
Wi‑Fi Direct</a:t>
            </a:r>
            <a:endParaRPr sz="96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33" name="Connector 26"/>
          <p:cNvCxnSpPr/>
          <p:nvPr/>
        </p:nvCxnSpPr>
        <p:spPr>
          <a:xfrm>
            <a:off x="7763256" y="2395728"/>
            <a:ext cx="914400" cy="0"/>
          </a:xfrm>
          <a:prstGeom prst="line">
            <a:avLst/>
          </a:prstGeom>
          <a:ln w="20320">
            <a:solidFill>
              <a:srgbClr val="B7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677656" y="2066544"/>
            <a:ext cx="658368" cy="65836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28"/>
          <p:cNvSpPr txBox="1"/>
          <p:nvPr/>
        </p:nvSpPr>
        <p:spPr>
          <a:xfrm>
            <a:off x="8732520" y="218541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TTS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6" name="TextBox 29"/>
          <p:cNvSpPr txBox="1"/>
          <p:nvPr/>
        </p:nvSpPr>
        <p:spPr>
          <a:xfrm>
            <a:off x="8503920" y="2834640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1" i="0">
                <a:solidFill>
                  <a:srgbClr val="203040"/>
                </a:solidFill>
                <a:latin typeface="Inter"/>
              </a:rPr>
              <a:t>10-language
TTS</a:t>
            </a:r>
            <a:endParaRPr sz="960" b="1" i="0">
              <a:solidFill>
                <a:srgbClr val="203040"/>
              </a:solidFill>
              <a:latin typeface="Inter"/>
            </a:endParaRPr>
          </a:p>
        </p:txBody>
      </p:sp>
      <p:cxnSp>
        <p:nvCxnSpPr>
          <p:cNvPr id="37" name="Connector 30"/>
          <p:cNvCxnSpPr/>
          <p:nvPr/>
        </p:nvCxnSpPr>
        <p:spPr>
          <a:xfrm>
            <a:off x="9336024" y="2395728"/>
            <a:ext cx="914400" cy="0"/>
          </a:xfrm>
          <a:prstGeom prst="line">
            <a:avLst/>
          </a:prstGeom>
          <a:ln w="20320">
            <a:solidFill>
              <a:srgbClr val="B7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250424" y="2066544"/>
            <a:ext cx="658368" cy="658368"/>
          </a:xfrm>
          <a:prstGeom prst="ellipse">
            <a:avLst/>
          </a:prstGeom>
          <a:solidFill>
            <a:srgbClr val="0B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2"/>
          <p:cNvSpPr txBox="1"/>
          <p:nvPr/>
        </p:nvSpPr>
        <p:spPr>
          <a:xfrm>
            <a:off x="10305288" y="218541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SPK</a:t>
            </a:r>
            <a:endParaRPr sz="1000" b="1" i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40" name="TextBox 33"/>
          <p:cNvSpPr txBox="1"/>
          <p:nvPr/>
        </p:nvSpPr>
        <p:spPr>
          <a:xfrm>
            <a:off x="10076688" y="2834640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1" i="0">
                <a:solidFill>
                  <a:srgbClr val="203040"/>
                </a:solidFill>
                <a:latin typeface="Inter"/>
              </a:rPr>
              <a:t>Voice out</a:t>
            </a:r>
            <a:endParaRPr sz="960" b="1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41" name="TextBox 34"/>
          <p:cNvSpPr txBox="1"/>
          <p:nvPr/>
        </p:nvSpPr>
        <p:spPr>
          <a:xfrm>
            <a:off x="658368" y="36576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2A43"/>
                </a:solidFill>
                <a:latin typeface="Inter"/>
              </a:rPr>
              <a:t>OPERATING MODES</a:t>
            </a:r>
            <a:endParaRPr sz="100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8368" y="4005072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36"/>
          <p:cNvSpPr txBox="1"/>
          <p:nvPr/>
        </p:nvSpPr>
        <p:spPr>
          <a:xfrm>
            <a:off x="841248" y="414223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B74C8"/>
                </a:solidFill>
                <a:latin typeface="Inter"/>
              </a:rPr>
              <a:t>PTT ON</a:t>
            </a:r>
            <a:endParaRPr sz="1000" b="1" i="0">
              <a:solidFill>
                <a:srgbClr val="0B74C8"/>
              </a:solidFill>
              <a:latin typeface="Inter"/>
            </a:endParaRPr>
          </a:p>
        </p:txBody>
      </p:sp>
      <p:sp>
        <p:nvSpPr>
          <p:cNvPr id="44" name="TextBox 37"/>
          <p:cNvSpPr txBox="1"/>
          <p:nvPr/>
        </p:nvSpPr>
        <p:spPr>
          <a:xfrm>
            <a:off x="1581912" y="4078224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03040"/>
                </a:solidFill>
                <a:latin typeface="Inter"/>
              </a:rPr>
              <a:t>Walkie‑talkie style push-to-talk</a:t>
            </a:r>
            <a:endParaRPr sz="1050" b="1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639312" y="4005072"/>
            <a:ext cx="2907792" cy="74980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39"/>
          <p:cNvSpPr txBox="1"/>
          <p:nvPr/>
        </p:nvSpPr>
        <p:spPr>
          <a:xfrm>
            <a:off x="3822191" y="4142232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6A085"/>
                </a:solidFill>
                <a:latin typeface="Inter"/>
              </a:rPr>
              <a:t>PTT OFF</a:t>
            </a:r>
            <a:endParaRPr sz="1000" b="1" i="0">
              <a:solidFill>
                <a:srgbClr val="16A085"/>
              </a:solidFill>
              <a:latin typeface="Inter"/>
            </a:endParaRPr>
          </a:p>
        </p:txBody>
      </p:sp>
      <p:sp>
        <p:nvSpPr>
          <p:cNvPr id="47" name="TextBox 40"/>
          <p:cNvSpPr txBox="1"/>
          <p:nvPr/>
        </p:nvSpPr>
        <p:spPr>
          <a:xfrm>
            <a:off x="4617720" y="407822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03040"/>
                </a:solidFill>
                <a:latin typeface="Inter"/>
              </a:rPr>
              <a:t>Phone-like continuous conversation</a:t>
            </a:r>
            <a:endParaRPr sz="1050" b="1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711696" y="4005072"/>
            <a:ext cx="2560320" cy="749808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 w="12700">
            <a:solidFill>
              <a:srgbClr val="F1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2"/>
          <p:cNvSpPr txBox="1"/>
          <p:nvPr/>
        </p:nvSpPr>
        <p:spPr>
          <a:xfrm>
            <a:off x="6903720" y="414223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36F21"/>
                </a:solidFill>
                <a:latin typeface="Inter"/>
              </a:rPr>
              <a:t>ALERT</a:t>
            </a:r>
            <a:endParaRPr sz="1000" b="1" i="0">
              <a:solidFill>
                <a:srgbClr val="F36F21"/>
              </a:solidFill>
              <a:latin typeface="Inter"/>
            </a:endParaRPr>
          </a:p>
        </p:txBody>
      </p:sp>
      <p:sp>
        <p:nvSpPr>
          <p:cNvPr id="50" name="TextBox 43"/>
          <p:cNvSpPr txBox="1"/>
          <p:nvPr/>
        </p:nvSpPr>
        <p:spPr>
          <a:xfrm>
            <a:off x="7488936" y="4078224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03040"/>
                </a:solidFill>
                <a:latin typeface="Inter"/>
              </a:rPr>
              <a:t>Priority emergency playback</a:t>
            </a:r>
            <a:endParaRPr sz="1050" b="1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445752" y="4005072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F0F7F5"/>
          </a:solidFill>
          <a:ln w="12700">
            <a:solidFill>
              <a:srgbClr val="CE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45"/>
          <p:cNvSpPr txBox="1"/>
          <p:nvPr/>
        </p:nvSpPr>
        <p:spPr>
          <a:xfrm>
            <a:off x="9610344" y="4105656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20" b="1" i="0">
                <a:solidFill>
                  <a:srgbClr val="16A085"/>
                </a:solidFill>
                <a:latin typeface="Inter"/>
              </a:rPr>
              <a:t>SECURE SESSION</a:t>
            </a:r>
            <a:endParaRPr sz="920" b="1" i="0">
              <a:solidFill>
                <a:srgbClr val="16A085"/>
              </a:solidFill>
              <a:latin typeface="Inter"/>
            </a:endParaRPr>
          </a:p>
        </p:txBody>
      </p:sp>
      <p:sp>
        <p:nvSpPr>
          <p:cNvPr id="53" name="TextBox 46"/>
          <p:cNvSpPr txBox="1"/>
          <p:nvPr/>
        </p:nvSpPr>
        <p:spPr>
          <a:xfrm>
            <a:off x="9601200" y="4352544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203040"/>
                </a:solidFill>
                <a:latin typeface="Inter"/>
              </a:rPr>
              <a:t>ECDH • SAS • AES‑GCM</a:t>
            </a:r>
            <a:endParaRPr sz="850" b="1" i="0">
              <a:solidFill>
                <a:srgbClr val="203040"/>
              </a:solidFill>
              <a:latin typeface="Inter"/>
            </a:endParaRPr>
          </a:p>
        </p:txBody>
      </p:sp>
      <p:sp>
        <p:nvSpPr>
          <p:cNvPr id="54" name="TextBox 47"/>
          <p:cNvSpPr txBox="1"/>
          <p:nvPr/>
        </p:nvSpPr>
        <p:spPr>
          <a:xfrm>
            <a:off x="658368" y="510235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36F21"/>
                </a:solidFill>
                <a:latin typeface="Inter"/>
              </a:rPr>
              <a:t>OPTIONAL FUTURE RANGE EXTENSION</a:t>
            </a:r>
            <a:endParaRPr sz="1000" b="1" i="0">
              <a:solidFill>
                <a:srgbClr val="F36F21"/>
              </a:solidFill>
              <a:latin typeface="Inter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58368" y="5431536"/>
            <a:ext cx="10789920" cy="676656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 w="12700">
            <a:solidFill>
              <a:srgbClr val="F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6112" y="5605272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0"/>
          <p:cNvSpPr txBox="1"/>
          <p:nvPr/>
        </p:nvSpPr>
        <p:spPr>
          <a:xfrm>
            <a:off x="941832" y="5623559"/>
            <a:ext cx="11887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102A43"/>
                </a:solidFill>
                <a:latin typeface="Inter"/>
              </a:rPr>
              <a:t>Android Phone</a:t>
            </a:r>
            <a:endParaRPr sz="83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761488" y="5605272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2"/>
          <p:cNvSpPr txBox="1"/>
          <p:nvPr/>
        </p:nvSpPr>
        <p:spPr>
          <a:xfrm>
            <a:off x="2807208" y="5623559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102A43"/>
                </a:solidFill>
                <a:latin typeface="Inter"/>
              </a:rPr>
              <a:t>Heltec WiFi LoRa 32 V3</a:t>
            </a:r>
            <a:endParaRPr sz="83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910328" y="5605272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54"/>
          <p:cNvSpPr txBox="1"/>
          <p:nvPr/>
        </p:nvSpPr>
        <p:spPr>
          <a:xfrm>
            <a:off x="4956048" y="5623559"/>
            <a:ext cx="11887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102A43"/>
                </a:solidFill>
                <a:latin typeface="Inter"/>
              </a:rPr>
              <a:t>LoRa Link</a:t>
            </a:r>
            <a:endParaRPr sz="83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711696" y="5605272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56"/>
          <p:cNvSpPr txBox="1"/>
          <p:nvPr/>
        </p:nvSpPr>
        <p:spPr>
          <a:xfrm>
            <a:off x="6757416" y="5623559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102A43"/>
                </a:solidFill>
                <a:latin typeface="Inter"/>
              </a:rPr>
              <a:t>Heltec WiFi LoRa 32 V3</a:t>
            </a:r>
            <a:endParaRPr sz="830" b="1" i="0">
              <a:solidFill>
                <a:srgbClr val="102A43"/>
              </a:solidFill>
              <a:latin typeface="Inter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869680" y="5605272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58"/>
          <p:cNvSpPr txBox="1"/>
          <p:nvPr/>
        </p:nvSpPr>
        <p:spPr>
          <a:xfrm>
            <a:off x="8915400" y="5623559"/>
            <a:ext cx="11887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102A43"/>
                </a:solidFill>
                <a:latin typeface="Inter"/>
              </a:rPr>
              <a:t>Android Phone</a:t>
            </a:r>
            <a:endParaRPr sz="830" b="1" i="0">
              <a:solidFill>
                <a:srgbClr val="102A43"/>
              </a:solidFill>
              <a:latin typeface="Inter"/>
            </a:endParaRPr>
          </a:p>
        </p:txBody>
      </p:sp>
      <p:cxnSp>
        <p:nvCxnSpPr>
          <p:cNvPr id="66" name="Connector 59"/>
          <p:cNvCxnSpPr/>
          <p:nvPr/>
        </p:nvCxnSpPr>
        <p:spPr>
          <a:xfrm>
            <a:off x="2176272" y="5760720"/>
            <a:ext cx="585216" cy="0"/>
          </a:xfrm>
          <a:prstGeom prst="line">
            <a:avLst/>
          </a:prstGeom>
          <a:ln w="17780">
            <a:solidFill>
              <a:srgbClr val="F36F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0"/>
          <p:cNvCxnSpPr/>
          <p:nvPr/>
        </p:nvCxnSpPr>
        <p:spPr>
          <a:xfrm>
            <a:off x="4361688" y="5760720"/>
            <a:ext cx="548640" cy="0"/>
          </a:xfrm>
          <a:prstGeom prst="line">
            <a:avLst/>
          </a:prstGeom>
          <a:ln w="17780">
            <a:solidFill>
              <a:srgbClr val="F36F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1"/>
          <p:cNvCxnSpPr/>
          <p:nvPr/>
        </p:nvCxnSpPr>
        <p:spPr>
          <a:xfrm>
            <a:off x="6190488" y="5760720"/>
            <a:ext cx="521208" cy="0"/>
          </a:xfrm>
          <a:prstGeom prst="line">
            <a:avLst/>
          </a:prstGeom>
          <a:ln w="17780">
            <a:solidFill>
              <a:srgbClr val="F36F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2"/>
          <p:cNvCxnSpPr/>
          <p:nvPr/>
        </p:nvCxnSpPr>
        <p:spPr>
          <a:xfrm>
            <a:off x="8311896" y="5760720"/>
            <a:ext cx="557784" cy="0"/>
          </a:xfrm>
          <a:prstGeom prst="line">
            <a:avLst/>
          </a:prstGeom>
          <a:ln w="17780">
            <a:solidFill>
              <a:srgbClr val="F36F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0094976" y="56052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64"/>
          <p:cNvSpPr txBox="1"/>
          <p:nvPr/>
        </p:nvSpPr>
        <p:spPr>
          <a:xfrm>
            <a:off x="10140696" y="5623559"/>
            <a:ext cx="10058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60" b="1" i="0">
                <a:solidFill>
                  <a:srgbClr val="F36F21"/>
                </a:solidFill>
                <a:latin typeface="Inter"/>
              </a:rPr>
              <a:t>FUTURE / OPTIONAL</a:t>
            </a:r>
            <a:endParaRPr sz="760" b="1" i="0">
              <a:solidFill>
                <a:srgbClr val="F36F21"/>
              </a:solidFill>
              <a:latin typeface="Inter"/>
            </a:endParaRPr>
          </a:p>
        </p:txBody>
      </p:sp>
      <p:sp>
        <p:nvSpPr>
          <p:cNvPr id="74" name="TextBox 67"/>
          <p:cNvSpPr txBox="1"/>
          <p:nvPr/>
        </p:nvSpPr>
        <p:spPr>
          <a:xfrm>
            <a:off x="10972800" y="6556248"/>
            <a:ext cx="64008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7E8C99"/>
                </a:solidFill>
                <a:latin typeface="Inter"/>
              </a:rPr>
              <a:t>5/6</a:t>
            </a:r>
            <a:endParaRPr sz="800" b="0" i="0">
              <a:solidFill>
                <a:srgbClr val="7E8C99"/>
              </a:solidFill>
              <a:latin typeface="Inter"/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Bit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18288"/>
            <a:ext cx="9144000" cy="658368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US" sz="2800" b="1" i="1" u="sng" dirty="0">
              <a:latin typeface="ROG Fonts" panose="00000500000000000000" pitchFamily="50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Bit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1417320" y="1234440"/>
            <a:ext cx="9372600" cy="4892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141414"/>
                </a:solidFill>
                <a:latin typeface="Aptos"/>
              </a:defRPr>
            </a:pPr>
            <a:r>
              <a:t>• </a:t>
            </a:r>
            <a:r>
              <a:rPr sz="1800" b="1">
                <a:solidFill>
                  <a:srgbClr val="141414"/>
                </a:solidFill>
                <a:latin typeface="Aptos"/>
              </a:rPr>
              <a:t>SIH26173 – iTantra: </a:t>
            </a:r>
            <a:r>
              <a:rPr sz="1800" b="0">
                <a:solidFill>
                  <a:srgbClr val="0046DC"/>
                </a:solidFill>
                <a:latin typeface="Aptos"/>
                <a:hlinkClick r:id="rId1"/>
              </a:rPr>
              <a:t>https://sih.gov.in/sih2026PS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141414"/>
                </a:solidFill>
                <a:latin typeface="Aptos"/>
              </a:defRPr>
            </a:pPr>
            <a:r>
              <a:t>• </a:t>
            </a:r>
            <a:r>
              <a:rPr sz="1800" b="1">
                <a:solidFill>
                  <a:srgbClr val="141414"/>
                </a:solidFill>
                <a:latin typeface="Aptos"/>
              </a:rPr>
              <a:t>ISRO: </a:t>
            </a:r>
            <a:r>
              <a:rPr sz="1800" b="0">
                <a:solidFill>
                  <a:srgbClr val="0046DC"/>
                </a:solidFill>
                <a:latin typeface="Aptos"/>
                <a:hlinkClick r:id="rId2"/>
              </a:rPr>
              <a:t>https://www.isro.gov.in/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141414"/>
                </a:solidFill>
                <a:latin typeface="Aptos"/>
              </a:defRPr>
            </a:pPr>
            <a:r>
              <a:t>• </a:t>
            </a:r>
            <a:r>
              <a:rPr sz="1800" b="1">
                <a:solidFill>
                  <a:srgbClr val="141414"/>
                </a:solidFill>
                <a:latin typeface="Aptos"/>
              </a:rPr>
              <a:t>Android Developers: </a:t>
            </a:r>
            <a:r>
              <a:rPr sz="1800" b="0">
                <a:latin typeface="Aptos"/>
              </a:rPr>
              <a:t>Kotlin &amp; Android APIs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141414"/>
                </a:solidFill>
                <a:latin typeface="Aptos"/>
              </a:defRPr>
            </a:pPr>
            <a:r>
              <a:t>• </a:t>
            </a:r>
            <a:r>
              <a:rPr sz="1800" b="1">
                <a:solidFill>
                  <a:srgbClr val="141414"/>
                </a:solidFill>
                <a:latin typeface="Aptos"/>
              </a:rPr>
              <a:t>Oracle Java: </a:t>
            </a:r>
            <a:r>
              <a:rPr sz="1800" b="0">
                <a:latin typeface="Aptos"/>
              </a:rPr>
              <a:t>Java &amp; JVM documentation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141414"/>
                </a:solidFill>
                <a:latin typeface="Aptos"/>
              </a:defRPr>
            </a:pPr>
            <a:r>
              <a:t>• </a:t>
            </a:r>
            <a:r>
              <a:rPr sz="1800" b="1">
                <a:solidFill>
                  <a:srgbClr val="141414"/>
                </a:solidFill>
                <a:latin typeface="Aptos"/>
              </a:rPr>
              <a:t>Gradle: </a:t>
            </a:r>
            <a:r>
              <a:rPr sz="1800" b="0">
                <a:latin typeface="Aptos"/>
              </a:rPr>
              <a:t>Build automation &amp; dependency management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141414"/>
                </a:solidFill>
                <a:latin typeface="Aptos"/>
              </a:defRPr>
            </a:pPr>
            <a:r>
              <a:t>• </a:t>
            </a:r>
            <a:r>
              <a:rPr sz="1800" b="1">
                <a:solidFill>
                  <a:srgbClr val="141414"/>
                </a:solidFill>
                <a:latin typeface="Aptos"/>
              </a:rPr>
              <a:t>Python: </a:t>
            </a:r>
            <a:r>
              <a:rPr sz="1800" b="0">
                <a:latin typeface="Aptos"/>
              </a:rPr>
              <a:t>AI &amp; speech-processing components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141414"/>
                </a:solidFill>
                <a:latin typeface="Aptos"/>
              </a:defRPr>
            </a:pPr>
            <a:r>
              <a:t>• </a:t>
            </a:r>
            <a:r>
              <a:rPr sz="1800" b="1">
                <a:solidFill>
                  <a:srgbClr val="141414"/>
                </a:solidFill>
                <a:latin typeface="Aptos"/>
              </a:rPr>
              <a:t>Research Focus: </a:t>
            </a:r>
            <a:r>
              <a:rPr sz="1800" b="0">
                <a:latin typeface="Aptos"/>
              </a:rPr>
              <a:t>Multilingual STT + TTS + low-bandwidth communication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141414"/>
                </a:solidFill>
                <a:latin typeface="Aptos"/>
              </a:defRPr>
            </a:pPr>
            <a:r>
              <a:t>• </a:t>
            </a:r>
            <a:r>
              <a:rPr sz="1800" b="1">
                <a:solidFill>
                  <a:srgbClr val="141414"/>
                </a:solidFill>
                <a:latin typeface="Aptos"/>
              </a:rPr>
              <a:t>Project Repository: </a:t>
            </a:r>
            <a:r>
              <a:rPr sz="1800" b="0">
                <a:solidFill>
                  <a:srgbClr val="0046DC"/>
                </a:solidFill>
                <a:latin typeface="Aptos"/>
                <a:hlinkClick r:id="rId6"/>
              </a:rPr>
              <a:t>https://github.com/avira-l07/workfix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1417320" y="9875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9BE"/>
                </a:solidFill>
                <a:latin typeface="Aptos"/>
              </a:defRPr>
            </a:pPr>
            <a:r>
              <a:t>REFERENCES &amp;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3400</Words>
  <Application>WPS Presentation</Application>
  <PresentationFormat>Widescreen</PresentationFormat>
  <Paragraphs>332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ROG Fonts</vt:lpstr>
      <vt:lpstr>Inter</vt:lpstr>
      <vt:lpstr>Aptos</vt:lpstr>
      <vt:lpstr>Aptos Display</vt:lpstr>
      <vt:lpstr>Microsoft YaHei</vt:lpstr>
      <vt:lpstr>Arial Unicode MS</vt:lpstr>
      <vt:lpstr>Segoe UI</vt:lpstr>
      <vt:lpstr>Segoe UI Variable Display</vt:lpstr>
      <vt:lpstr>Office Theme</vt:lpstr>
      <vt:lpstr>SMART INDIA HACKATHON 2026</vt:lpstr>
      <vt:lpstr>SMART INDIA HACKATHON 2026</vt:lpstr>
      <vt:lpstr>PowerPoint 演示文稿</vt:lpstr>
      <vt:lpstr>SMART INDIA HACKATHON 2026</vt:lpstr>
      <vt:lpstr>PowerPoint 演示文稿</vt:lpstr>
      <vt:lpstr>SMART INDIA HACKATHON 2026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Dark Soul White Gamer</cp:lastModifiedBy>
  <cp:revision>154</cp:revision>
  <dcterms:created xsi:type="dcterms:W3CDTF">2013-12-12T18:46:00Z</dcterms:created>
  <dcterms:modified xsi:type="dcterms:W3CDTF">2026-09-25T14:34:01Z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D5724C42EC6E4726B74466F9276387C4_13</vt:lpwstr>
  </property>
</Properties>
</file>