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75ac92eb334cc1" /><Relationship Type="http://schemas.openxmlformats.org/officeDocument/2006/relationships/extended-properties" Target="/docProps/app.xml" Id="R2d7bfc04058c436d" /><Relationship Type="http://schemas.openxmlformats.org/officeDocument/2006/relationships/officeDocument" Target="/ppt/presentation.xml" Id="Ref356fc913be4f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6aae155b0046ce"/>
  </p:sldMasterIdLst>
  <p:notesMasterIdLst>
    <p:notesMasterId xmlns:r="http://schemas.openxmlformats.org/officeDocument/2006/relationships" r:id="R0480fb5149534f3e"/>
  </p:notesMasterIdLst>
  <p:sldIdLst>
    <p:sldId xmlns:r="http://schemas.openxmlformats.org/officeDocument/2006/relationships" id="256" r:id="R31544a58c94242ec"/>
    <p:sldId xmlns:r="http://schemas.openxmlformats.org/officeDocument/2006/relationships" id="257" r:id="Ra0931331da4a4073"/>
    <p:sldId xmlns:r="http://schemas.openxmlformats.org/officeDocument/2006/relationships" id="258" r:id="R0ab984ba56594b6a"/>
    <p:sldId xmlns:r="http://schemas.openxmlformats.org/officeDocument/2006/relationships" id="259" r:id="R60394359f1564385"/>
    <p:sldId xmlns:r="http://schemas.openxmlformats.org/officeDocument/2006/relationships" id="260" r:id="R671cf8265d9042d0"/>
    <p:sldId xmlns:r="http://schemas.openxmlformats.org/officeDocument/2006/relationships" id="261" r:id="Rcf1d82d4d13a40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07d5959b414213" /><Relationship Type="http://schemas.openxmlformats.org/officeDocument/2006/relationships/slideMaster" Target="/ppt/slideMasters/slideMaster1.xml" Id="R736aae155b0046ce" /><Relationship Type="http://schemas.openxmlformats.org/officeDocument/2006/relationships/notesMaster" Target="/ppt/notesMasters/notesMaster1.xml" Id="R0480fb5149534f3e" /><Relationship Type="http://schemas.openxmlformats.org/officeDocument/2006/relationships/presProps" Target="/ppt/presProps.xml" Id="R951d4b99c92344ef" /><Relationship Type="http://schemas.openxmlformats.org/officeDocument/2006/relationships/viewProps" Target="/ppt/viewProps.xml" Id="R65edfa6483fd47f0" /><Relationship Type="http://schemas.openxmlformats.org/officeDocument/2006/relationships/tableStyles" Target="/ppt/tableStyles.xml" Id="R65c36030f8964f31" /><Relationship Type="http://schemas.openxmlformats.org/officeDocument/2006/relationships/slide" Target="/ppt/slides/slide1.xml" Id="R31544a58c94242ec" /><Relationship Type="http://schemas.openxmlformats.org/officeDocument/2006/relationships/slide" Target="/ppt/slides/slide2.xml" Id="Ra0931331da4a4073" /><Relationship Type="http://schemas.openxmlformats.org/officeDocument/2006/relationships/slide" Target="/ppt/slides/slide3.xml" Id="R0ab984ba56594b6a" /><Relationship Type="http://schemas.openxmlformats.org/officeDocument/2006/relationships/slide" Target="/ppt/slides/slide4.xml" Id="R60394359f1564385" /><Relationship Type="http://schemas.openxmlformats.org/officeDocument/2006/relationships/slide" Target="/ppt/slides/slide5.xml" Id="R671cf8265d9042d0" /><Relationship Type="http://schemas.openxmlformats.org/officeDocument/2006/relationships/slide" Target="/ppt/slides/slide6.xml" Id="Rcf1d82d4d13a40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82cdfc681949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4787175b8041e5" /><Relationship Type="http://schemas.openxmlformats.org/officeDocument/2006/relationships/notesMaster" Target="/ppt/notesMasters/notesMaster1.xml" Id="Re0e71fc59edf4c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93e1262e61470d" /><Relationship Type="http://schemas.openxmlformats.org/officeDocument/2006/relationships/notesMaster" Target="/ppt/notesMasters/notesMaster1.xml" Id="R395b69cdfd4c44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b37f7abd7c4a28" /><Relationship Type="http://schemas.openxmlformats.org/officeDocument/2006/relationships/notesMaster" Target="/ppt/notesMasters/notesMaster1.xml" Id="R27c77485e9f84e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608705c5974048" /><Relationship Type="http://schemas.openxmlformats.org/officeDocument/2006/relationships/notesMaster" Target="/ppt/notesMasters/notesMaster1.xml" Id="R85eba8001ae34e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0acdcce4f44ae5" /><Relationship Type="http://schemas.openxmlformats.org/officeDocument/2006/relationships/notesMaster" Target="/ppt/notesMasters/notesMaster1.xml" Id="R8a9502235c8541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7ecf9b3e3c41e6" /><Relationship Type="http://schemas.openxmlformats.org/officeDocument/2006/relationships/notesMaster" Target="/ppt/notesMasters/notesMaster1.xml" Id="R8da880700f0741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SIH26173 submission pitch, updated 5 October 2026. Six-slide template, team GIT BIT and Team ID 165027 retained. Official requirement: https://sih.gov.in/sih2026PS. Capability descriptions reflect current implementation; the labelled delivery plan describes forthcoming demo and release milestones, not completed phone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Sources: docs/QUICK_STAT_SUMMARY.md; docs/LANGUAGE_BENCHMARKS.md; local Android implementation. Runtime: https://k2-fsa.github.io/sherpa/onnx/index.html. Ten language packs are selectable; speech inference runs locally after initial download. The core peer transport is Bluetooth RFCOMM or Wi-Fi Direct TCP. General cross-language translation is an optional extension and has language-pair restrictions. Photographs are representative illustrations retained from the supplied template.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Implementation: Kotlin/Compose UI, sherpa-onnx STT/TTS, Room/SQLCipher history, ECDH/SAS/AES-GCM peers, PTT and pause-delimited speech, four compact SOS codes, acknowledgements/retries and diagnostics. Demo flow describes the intended two-device evaluation sequence. Device memory/CPU/battery and full audible delivery timing will be measured during that sequence. An external radio gateway and mesh are separate future extensions.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Measured sources: docs/QUICK_STAT_SUMMARY.md and docs/LANGUAGE_BENCHMARKS.md; received itantra_tamil_pilot_reports (2).zip, retained under tools/stt_results/tamil-gate-b-training-process-review-2026-10-05/received-reports.zip. Latest recorded unit run: 454 tests, zero failures. Hindi/English desktop INT8 WER: 9.1% / 6.9% over 30 clean FLEURS validation recordings per language. Tamil original source-model GPU CTC WER 20.0507614213%, RNNT WER 18.5279187817%, Tamil script 30/30, same protected 30 recordings. These GPU results are baseline measurements, not fine-tuning gains or Android results. Marathi Piper synthesis mean 181 ms across 30 short phrases; excludes playback/transport and uses a desktop. Tamil saved-data guard checked 4,983 rows with zero overlaps/errors. The official criteria list accuracy 40%, efficiency 20%, latency 20%; no additional allocation is invented.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The upper pipeline and operating modes reflect current application code. The lower row is explicitly a future delivery plan: Tamil tuning, train/dev selection, locked held-out tests, ONNX/INT8 comparisons, two-device demo and signed release. Received GPU baseline passed; first training process stopped without a traceback or recorded exit code. A diagnostic retry is prepared. Training completion, general accuracy gains and signed release are forthcoming milestones.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Primary sources: https://sih.gov.in/sih2026PS; https://k2-fsa.github.io/sherpa/onnx/index.html; https://huggingface.co/ai4bharat/indicconformer_stt_ta_hybrid_ctc_rnnt_large; https://huggingface.co/datasets/google/fleurs; https://huggingface.co/datasets/ai4bharat/Kathbath. Local evidence: docs/LANGUAGE_BENCHMARKS.md, docs/QUICK_STAT_SUMMARY.md, docs/TAMIL_PILOT_REPORT_REVIEW_2026-10-05.txt. Kathbath split: 4,428 train / 555 dev clips, 123 / 14 speakers, 8.882 / 1.118 hours. Model-specific licensing and redistribution terms are reviewed as part of release preparation. This slide describes delivery methodology, not an assertion that all release milestones have already passed.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86576310834c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9d8baa5afd47a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4e15da9f8f47c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42758cc1534ba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d5f1eaf8dd4bb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bcd72d65a4465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bf2a0d37284e5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a5858c18ea47c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33656c8cc34f6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f7800c503a4c4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32f56c3bae40e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AED9A1-0EB9-4864-A40C-A1519CB667B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AFD2155-A78F-410F-9631-04EF6BB413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FE022F9-74F8-4EA8-A05B-38CEEFC4BE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4C5F1EE-5885-49CC-B710-6CC7BAC10A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E83740-DC7A-482F-893A-72E6AF6102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024732-E795-41DD-8EDA-CC6D8C980A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DA88E65-B939-4397-8EB3-A971D1E8D26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4CFE566-F1D9-43D5-A69B-3A64D08D93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9569DBE-7166-4C18-833B-55BE81AC92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1C12F4-537C-406F-88F4-B33A08C4F7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C99EAF-384A-45F8-91C3-7C40E11546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15FB2DE-E371-4688-90C2-EC20DE6A97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FDAE449-5FF9-494D-B15D-A3F17EFEE6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854955-591D-45D3-BB1C-B661F5D43E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E31237-A163-4BB0-8088-BECB57CD35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2847B7-394A-405A-A7C7-082845AFAE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36B3AB5-2C1A-4ED6-9935-820660EBC36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D195638-FB3B-4C78-B8B7-348B77D96B1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326F8B6-BFE5-4396-A6D3-8B4C72A6D3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1B841D1-A3AA-4D74-9B43-F6783C7758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1B6510-C977-4928-9715-D77FDA0F74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C0E9DF-0B6C-400A-A579-3DDC6EFD33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456B5CE-65B5-4DC3-A68D-06A91AABC0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13CDF83-C93E-4670-93F0-3F499E80B03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3C51F84-AF4E-4854-B42A-E27750C0302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B2E4571-1AF2-4B4B-8DF2-50AEB6BB413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F9AA3B0-3722-4CF6-B7DC-BA22E74515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A3C45E2-DFF3-4F71-A56F-CB2C046105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  <a:endParaRPr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68C735-D887-4A00-A022-ED14FC2E58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DBD975-5BFA-414E-B57F-0FE341AE6F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4B96ABF-FB13-4A75-8132-B9F33F5389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8E95C8B-9315-4B1F-B321-1BF9116974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  <a:endParaRPr/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89A13A-1364-4CA7-852F-CB04A51966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FF70A38-B23C-4DC6-BFA4-5EA3065FB1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19E6A11-C66B-4C27-AB15-A1C411451B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  <a:endParaRPr/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E5EE0A-58B2-4961-A582-03CA592A5D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39F29F-0915-46F5-A84A-3EED3DE826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F425A4C-2DF9-4AD8-AC00-F6FA666E0F8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8518EC-508E-46D5-B2EA-39B040EA89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0EF7CD6-EEDA-499C-B658-68F986CEF6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4FA97D0-5443-4970-AD68-99B99F7B91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BC4398-75E1-4056-A46A-62A7E6F8D3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0B5C36-F4FF-42DE-B8E0-7CD270F5B1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50FCA38-D49F-43B8-B7F2-1BF447D6C69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3A76002-D0DF-4C27-8B5A-15791D12FDE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3DC4A79-8800-42E5-82B8-9E850C4F23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A70C07-62EC-4AEC-8A55-77F73E2964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8497F45-8683-4A90-8FB9-63FEC527C4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391BE7-DD78-4105-9413-A766039088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72EAC08-363E-4325-902D-8986070AC1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813B842-DE2C-4467-A7EC-F1831E8BF8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EC4BA9B-CCAC-47A0-9D74-966B57AA03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92F84AA-CBD3-4057-9EC0-67F9B3F9C5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F4C3567-6CB0-488F-A378-8851FE98E5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1CC89C2-7463-4E6C-A46F-0A28289C6B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C6C6ABA-5A81-4C08-A7D9-31B6A82BA7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4F26092-4BFD-4B3F-AF84-48BC99CB4B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90980E-CD4E-4F25-9B70-4628D3F345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ce9cc5e10b4c84" /><Relationship Type="http://schemas.openxmlformats.org/officeDocument/2006/relationships/slideLayout" Target="/ppt/slideLayouts/slideLayout1.xml" Id="R27532bcc54f54aa0" /><Relationship Type="http://schemas.openxmlformats.org/officeDocument/2006/relationships/slideLayout" Target="/ppt/slideLayouts/slideLayout2.xml" Id="Rf65e53e1b2d34436" /><Relationship Type="http://schemas.openxmlformats.org/officeDocument/2006/relationships/slideLayout" Target="/ppt/slideLayouts/slideLayout3.xml" Id="R2118af4df13d4e2d" /><Relationship Type="http://schemas.openxmlformats.org/officeDocument/2006/relationships/slideLayout" Target="/ppt/slideLayouts/slideLayout4.xml" Id="Raedae4291c374176" /><Relationship Type="http://schemas.openxmlformats.org/officeDocument/2006/relationships/slideLayout" Target="/ppt/slideLayouts/slideLayout5.xml" Id="R9ec777316f574153" /><Relationship Type="http://schemas.openxmlformats.org/officeDocument/2006/relationships/slideLayout" Target="/ppt/slideLayouts/slideLayout6.xml" Id="R4506e0f5b7704eb1" /><Relationship Type="http://schemas.openxmlformats.org/officeDocument/2006/relationships/slideLayout" Target="/ppt/slideLayouts/slideLayout7.xml" Id="R79184b398be24497" /><Relationship Type="http://schemas.openxmlformats.org/officeDocument/2006/relationships/slideLayout" Target="/ppt/slideLayouts/slideLayout8.xml" Id="R9dc7884c8e4e400c" /><Relationship Type="http://schemas.openxmlformats.org/officeDocument/2006/relationships/slideLayout" Target="/ppt/slideLayouts/slideLayout9.xml" Id="Rb5f5d36599284907" /><Relationship Type="http://schemas.openxmlformats.org/officeDocument/2006/relationships/slideLayout" Target="/ppt/slideLayouts/slideLayout10.xml" Id="Raff52278e5974e39" /><Relationship Type="http://schemas.openxmlformats.org/officeDocument/2006/relationships/slideLayout" Target="/ppt/slideLayouts/slideLayout11.xml" Id="R13ce6c344cc0454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7265696-6BEA-43BF-BCCD-8457919A60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  <a:endParaRPr/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9C1E3FF-22B6-4EAA-960B-2E3DF2D995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1973E51-914C-4711-8B04-527AAE38472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6851FD2-1335-4140-93B0-FCAC5B2C9E5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432972-CD87-42AA-86DD-3465B423452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532bcc54f54aa0"/>
    <p:sldLayoutId xmlns:r="http://schemas.openxmlformats.org/officeDocument/2006/relationships" id="2147483650" r:id="Rf65e53e1b2d34436"/>
    <p:sldLayoutId xmlns:r="http://schemas.openxmlformats.org/officeDocument/2006/relationships" id="2147483651" r:id="R2118af4df13d4e2d"/>
    <p:sldLayoutId xmlns:r="http://schemas.openxmlformats.org/officeDocument/2006/relationships" id="2147483652" r:id="Raedae4291c374176"/>
    <p:sldLayoutId xmlns:r="http://schemas.openxmlformats.org/officeDocument/2006/relationships" id="2147483653" r:id="R9ec777316f574153"/>
    <p:sldLayoutId xmlns:r="http://schemas.openxmlformats.org/officeDocument/2006/relationships" id="2147483654" r:id="R4506e0f5b7704eb1"/>
    <p:sldLayoutId xmlns:r="http://schemas.openxmlformats.org/officeDocument/2006/relationships" id="2147483655" r:id="R79184b398be24497"/>
    <p:sldLayoutId xmlns:r="http://schemas.openxmlformats.org/officeDocument/2006/relationships" id="2147483656" r:id="R9dc7884c8e4e400c"/>
    <p:sldLayoutId xmlns:r="http://schemas.openxmlformats.org/officeDocument/2006/relationships" id="2147483657" r:id="Rb5f5d36599284907"/>
    <p:sldLayoutId xmlns:r="http://schemas.openxmlformats.org/officeDocument/2006/relationships" id="2147483658" r:id="Raff52278e5974e39"/>
    <p:sldLayoutId xmlns:r="http://schemas.openxmlformats.org/officeDocument/2006/relationships" id="2147483659" r:id="R13ce6c344cc04540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92f58c4a446c7" /><Relationship Type="http://schemas.openxmlformats.org/officeDocument/2006/relationships/image" Target="/ppt/media/image.png" Id="R4604732200554bdf" /><Relationship Type="http://schemas.openxmlformats.org/officeDocument/2006/relationships/image" Target="/ppt/media/image2.png" Id="Rdaa9b7a154f24660" /><Relationship Type="http://schemas.openxmlformats.org/officeDocument/2006/relationships/notesSlide" Target="/ppt/notesSlides/notesSlide1.xml" Id="R5cbacc39cec342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c72885c9af42ee" /><Relationship Type="http://schemas.openxmlformats.org/officeDocument/2006/relationships/image" Target="/ppt/media/image2.png" Id="R0aac5244df004dd9" /><Relationship Type="http://schemas.openxmlformats.org/officeDocument/2006/relationships/image" Target="/ppt/media/image3.png" Id="R2e31064f8cc84121" /><Relationship Type="http://schemas.openxmlformats.org/officeDocument/2006/relationships/notesSlide" Target="/ppt/notesSlides/notesSlide2.xml" Id="R975a80420f9f4c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0b99ba485043dd" /><Relationship Type="http://schemas.openxmlformats.org/officeDocument/2006/relationships/image" Target="/ppt/media/image2.png" Id="R7b3d7acdf3644eab" /><Relationship Type="http://schemas.openxmlformats.org/officeDocument/2006/relationships/notesSlide" Target="/ppt/notesSlides/notesSlide3.xml" Id="R07e0283452ed49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a7c32f0b3442ae" /><Relationship Type="http://schemas.openxmlformats.org/officeDocument/2006/relationships/image" Target="/ppt/media/image2.png" Id="R01e545e9bf154903" /><Relationship Type="http://schemas.openxmlformats.org/officeDocument/2006/relationships/image" Target="/ppt/media/image4.png" Id="R3c7e891f848049fc" /><Relationship Type="http://schemas.openxmlformats.org/officeDocument/2006/relationships/notesSlide" Target="/ppt/notesSlides/notesSlide4.xml" Id="Rb03c7170926340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6154e8c4dc48a0" /><Relationship Type="http://schemas.openxmlformats.org/officeDocument/2006/relationships/image" Target="/ppt/media/image2.png" Id="Rd4f4124f4b05413f" /><Relationship Type="http://schemas.openxmlformats.org/officeDocument/2006/relationships/notesSlide" Target="/ppt/notesSlides/notesSlide5.xml" Id="Rf5fcca77aee349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617b09b6774713" /><Relationship Type="http://schemas.openxmlformats.org/officeDocument/2006/relationships/image" Target="/ppt/media/image2.png" Id="Rf1eb520900304222" /><Relationship Type="http://schemas.openxmlformats.org/officeDocument/2006/relationships/notesSlide" Target="/ppt/notesSlides/notesSlide6.xml" Id="Re68aa621490547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85289398-7452-4C70-B0C8-933EB4DA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1F9BA91C-351E-4B05-91E4-7E75FC85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2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604732200554bdf"/>
          <a:srcRect xmlns:a="http://schemas.openxmlformats.org/drawingml/2006/main" l="0" t="0" r="599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sp>
        <p:nvSpPr>
          <p:cNvPr id="4" name="Subtitle 3">
            <a:extLst xmlns:a="http://schemas.openxmlformats.org/drawingml/2006/main">
              <a:ext uri="{FF2B5EF4-FFF2-40B4-BE49-F238E27FC236}">
                <a16:creationId xmlns:a16="http://schemas.microsoft.com/office/drawing/2014/main" id="{B87B96DA-6FB9-4E1D-8CEB-7F676A7557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45686" y="648614"/>
            <a:ext cx="85344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 sz="3600" b="1" i="1" u="sng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iTantra</a:t>
            </a:r>
            <a:endParaRPr sz="3600" b="1" i="1" u="sng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A59C664B-1A78-48C1-9B81-A6A974B0979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31286" y="91440"/>
            <a:ext cx="10363200" cy="20764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8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2026</a:t>
            </a:r>
            <a:endParaRPr sz="28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72E56AA-0458-436F-8932-1880ACA9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80" y="1560277"/>
            <a:ext cx="6286620" cy="47999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/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b="1">
                <a:latin typeface="Arial"/>
                <a:ea typeface="Arial"/>
                <a:cs typeface="Arial"/>
              </a:rPr>
              <a:t>Problem Statement ID – SIH26173</a:t>
            </a:r>
            <a:endParaRPr b="1">
              <a:latin typeface="Arial"/>
              <a:ea typeface="Arial"/>
              <a:cs typeface="Arial"/>
            </a:endParaRP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b="1">
                <a:latin typeface="Arial"/>
                <a:ea typeface="Arial"/>
                <a:cs typeface="Arial"/>
              </a:rPr>
              <a:t>Problem Statement Title- </a:t>
            </a:r>
            <a:r>
              <a:rPr b="1">
                <a:latin typeface="Arial"/>
                <a:ea typeface="Arial"/>
                <a:cs typeface="Arial"/>
              </a:rPr>
              <a:t>iTantra</a:t>
            </a:r>
            <a:endParaRPr b="1">
              <a:latin typeface="Arial"/>
              <a:ea typeface="Arial"/>
              <a:cs typeface="Arial"/>
            </a:endParaRP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b="1">
                <a:latin typeface="Arial"/>
                <a:ea typeface="Arial"/>
                <a:cs typeface="Arial"/>
              </a:rPr>
              <a:t>Problem Statement- </a:t>
            </a:r>
            <a:r>
              <a:rPr b="1"/>
              <a:t>Indian Multilingual TTS &amp; STT Aided Neural Transceiver Radio Access for low bitrate links</a:t>
            </a:r>
            <a:endParaRPr b="1">
              <a:latin typeface="Arial"/>
              <a:ea typeface="Arial"/>
              <a:cs typeface="Arial"/>
            </a:endParaRP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b="1">
                <a:latin typeface="Arial"/>
                <a:ea typeface="Arial"/>
                <a:cs typeface="Arial"/>
              </a:rPr>
              <a:t>Software Theme-Smart Automation</a:t>
            </a:r>
            <a:endParaRPr b="1">
              <a:latin typeface="Arial"/>
              <a:ea typeface="Arial"/>
              <a:cs typeface="Arial"/>
            </a:endParaRP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b="1">
                <a:latin typeface="Arial"/>
                <a:ea typeface="Arial"/>
                <a:cs typeface="Arial"/>
              </a:rPr>
              <a:t>PS Category- Software</a:t>
            </a:r>
            <a:endParaRPr b="1">
              <a:latin typeface="Arial"/>
              <a:ea typeface="Arial"/>
              <a:cs typeface="Arial"/>
            </a:endParaRP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b="1">
                <a:latin typeface="Arial"/>
                <a:ea typeface="Arial"/>
                <a:cs typeface="Arial"/>
              </a:rPr>
              <a:t>Team ID- 165027</a:t>
            </a:r>
            <a:endParaRPr b="1">
              <a:latin typeface="Arial"/>
              <a:ea typeface="Arial"/>
              <a:cs typeface="Arial"/>
            </a:endParaRP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b="1">
                <a:latin typeface="Arial"/>
                <a:ea typeface="Arial"/>
                <a:cs typeface="Arial"/>
              </a:rPr>
              <a:t>Team Name- GIT BIT</a:t>
            </a:r>
            <a:endParaRPr b="1">
              <a:latin typeface="Arial"/>
              <a:ea typeface="Arial"/>
              <a:cs typeface="Arial"/>
            </a:endParaRPr>
          </a:p>
        </p:txBody>
      </p:sp>
      <p:pic>
        <p:nvPicPr>
          <p:cNvPr id="4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9b7a154f246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14827BF4-BB01-4E05-9EA4-8A274627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Git Bit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55282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E45F6033-3AF0-4386-8979-FA0E0932AF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2026</a:t>
            </a:r>
            <a:endParaRPr sz="2800" b="1" i="1" u="sng">
              <a:latin typeface="ROG Fonts"/>
              <a:ea typeface="ROG Fonts"/>
              <a:cs typeface="ROG Fonts"/>
            </a:endParaRPr>
          </a:p>
        </p:txBody>
      </p:sp>
      <p:sp>
        <p:nvSpPr>
          <p:cNvPr id="15362" name="TextBox 8">
            <a:extLst xmlns:a="http://schemas.openxmlformats.org/drawingml/2006/main">
              <a:ext uri="{FF2B5EF4-FFF2-40B4-BE49-F238E27FC236}">
                <a16:creationId xmlns:a16="http://schemas.microsoft.com/office/drawing/2014/main" id="{2062D77A-7301-47E6-95D8-E7FF2474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00" y="1395246"/>
            <a:ext cx="12191999" cy="1631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endParaRPr sz="20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endParaRPr sz="20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just">
              <a:buNone/>
            </a:pPr>
            <a:endParaRPr sz="2800"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D527663-E139-4789-AC1F-FD779233F0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1C9AF95E-096C-41AD-AED6-332F62FD5C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15370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ac5244df004d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B474721-7BDB-4E03-84ED-3C219F3B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291707"/>
            <a:ext cx="38404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THE PROBLEM + CORE INSIGHT</a:t>
            </a:r>
            <a:endParaRPr sz="100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" name="TextBox 5">
            <a:extLst xmlns:a="http://schemas.openxmlformats.org/drawingml/2006/main">
              <a:ext uri="{FF2B5EF4-FFF2-40B4-BE49-F238E27FC236}">
                <a16:creationId xmlns:a16="http://schemas.microsoft.com/office/drawing/2014/main" id="{330D9AA1-60F6-4ABB-8749-7BD10D15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23975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 i="0">
                <a:solidFill>
                  <a:srgbClr val="617284"/>
                </a:solidFill>
                <a:latin typeface="Inter"/>
                <a:ea typeface="Inter"/>
                <a:cs typeface="Inter"/>
              </a:rPr>
              <a:t>iTANTRA brings spoken communication to constrained links through local speech AI and compact text transport.</a:t>
            </a:r>
            <a:endParaRPr sz="1150" b="0" i="0">
              <a:solidFill>
                <a:srgbClr val="617284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537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1064f8cc841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1645920"/>
            <a:ext cx="4617720" cy="2331720"/>
          </a:xfrm>
          <a:prstGeom xmlns:a="http://schemas.openxmlformats.org/drawingml/2006/main" prst="rect">
            <a:avLst/>
          </a:prstGeom>
        </p:spPr>
      </p:pic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101D1E03-ACD7-4017-A7DF-6FE410DD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45920"/>
            <a:ext cx="4617720" cy="2331720"/>
          </a:xfrm>
          <a:prstGeom xmlns:a="http://schemas.openxmlformats.org/drawingml/2006/main" prst="roundRect">
            <a:avLst>
              <a:gd name="adj" fmla="val 6000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D8E3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7AEF98E-5CE4-4709-9F05-EC60343B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47088"/>
            <a:ext cx="1691640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2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9">
            <a:extLst xmlns:a="http://schemas.openxmlformats.org/drawingml/2006/main">
              <a:ext uri="{FF2B5EF4-FFF2-40B4-BE49-F238E27FC236}">
                <a16:creationId xmlns:a16="http://schemas.microsoft.com/office/drawing/2014/main" id="{2A0049BE-736C-4ADF-A75D-E048F2EC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65376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 i="0">
                <a:solidFill>
                  <a:srgbClr val="F36F21"/>
                </a:solidFill>
                <a:latin typeface="Inter"/>
                <a:ea typeface="Inter"/>
                <a:cs typeface="Inter"/>
              </a:rPr>
              <a:t>FIELD / DISTRESS SCENARIO</a:t>
            </a:r>
            <a:endParaRPr sz="850" b="1" i="0">
              <a:solidFill>
                <a:srgbClr val="F36F2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E2B547FA-6F92-4189-A025-1CDF2C53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4288536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1">
            <a:extLst xmlns:a="http://schemas.openxmlformats.org/drawingml/2006/main">
              <a:ext uri="{FF2B5EF4-FFF2-40B4-BE49-F238E27FC236}">
                <a16:creationId xmlns:a16="http://schemas.microsoft.com/office/drawing/2014/main" id="{8A2A6F01-F77B-4AA7-9BC3-94BFE6CE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4160520"/>
            <a:ext cx="42245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Continuous voice is data-heavy</a:t>
            </a:r>
            <a:endParaRPr sz="125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C2BE8EC9-7CF3-41D1-B5EA-E1F6D213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471830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3">
            <a:extLst xmlns:a="http://schemas.openxmlformats.org/drawingml/2006/main">
              <a:ext uri="{FF2B5EF4-FFF2-40B4-BE49-F238E27FC236}">
                <a16:creationId xmlns:a16="http://schemas.microsoft.com/office/drawing/2014/main" id="{5611F970-819C-4AE2-840B-373EC9F7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4590288"/>
            <a:ext cx="42245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Low-bitrate links cannot carry rich audio reliably</a:t>
            </a:r>
            <a:endParaRPr sz="1200" b="0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30219DE7-0779-4487-8120-53CFB466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5157216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15">
            <a:extLst xmlns:a="http://schemas.openxmlformats.org/drawingml/2006/main">
              <a:ext uri="{FF2B5EF4-FFF2-40B4-BE49-F238E27FC236}">
                <a16:creationId xmlns:a16="http://schemas.microsoft.com/office/drawing/2014/main" id="{2271F86D-C1AD-4E25-9762-9020A79F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5029200"/>
            <a:ext cx="42245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Users still need spoken output for accessibility</a:t>
            </a:r>
            <a:endParaRPr sz="1200" b="0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3" name="TextBox 16">
            <a:extLst xmlns:a="http://schemas.openxmlformats.org/drawingml/2006/main">
              <a:ext uri="{FF2B5EF4-FFF2-40B4-BE49-F238E27FC236}">
                <a16:creationId xmlns:a16="http://schemas.microsoft.com/office/drawing/2014/main" id="{9FF6E0AF-2777-49D4-8DE2-636803A5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28" y="1664208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ITANTRA APPROACH</a:t>
            </a:r>
            <a:endParaRPr sz="100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4" name="TextBox 17">
            <a:extLst xmlns:a="http://schemas.openxmlformats.org/drawingml/2006/main">
              <a:ext uri="{FF2B5EF4-FFF2-40B4-BE49-F238E27FC236}">
                <a16:creationId xmlns:a16="http://schemas.microsoft.com/office/drawing/2014/main" id="{AC2E0403-9346-4449-8238-15B70985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28" y="1901952"/>
            <a:ext cx="58978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0">
                <a:solidFill>
                  <a:srgbClr val="203040"/>
                </a:solidFill>
                <a:latin typeface="Inter"/>
                <a:ea typeface="Inter"/>
                <a:cs typeface="Inter"/>
              </a:rPr>
              <a:t>Keep </a:t>
            </a:r>
            <a:r>
              <a:rPr sz="1900" b="1">
                <a:solidFill>
                  <a:srgbClr val="0B74C8"/>
                </a:solidFill>
                <a:latin typeface="Inter"/>
                <a:ea typeface="Inter"/>
                <a:cs typeface="Inter"/>
              </a:rPr>
              <a:t>VOICE</a:t>
            </a:r>
            <a:r>
              <a:rPr sz="1900" b="0">
                <a:solidFill>
                  <a:srgbClr val="203040"/>
                </a:solidFill>
                <a:latin typeface="Inter"/>
                <a:ea typeface="Inter"/>
                <a:cs typeface="Inter"/>
              </a:rPr>
              <a:t> at both ends. Send only </a:t>
            </a:r>
            <a:r>
              <a:rPr sz="1900" b="1">
                <a:solidFill>
                  <a:srgbClr val="F36F21"/>
                </a:solidFill>
                <a:latin typeface="Inter"/>
                <a:ea typeface="Inter"/>
                <a:cs typeface="Inter"/>
              </a:rPr>
              <a:t>COMPACT TEXT</a:t>
            </a:r>
            <a:r>
              <a:rPr sz="1900" b="0">
                <a:solidFill>
                  <a:srgbClr val="203040"/>
                </a:solidFill>
                <a:latin typeface="Inter"/>
                <a:ea typeface="Inter"/>
                <a:cs typeface="Inter"/>
              </a:rPr>
              <a:t> in between.</a:t>
            </a:r>
            <a:endParaRPr sz="1900" b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FFA04E22-D4A4-4A18-8C1E-C2C19273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298094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4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19">
            <a:extLst xmlns:a="http://schemas.openxmlformats.org/drawingml/2006/main">
              <a:ext uri="{FF2B5EF4-FFF2-40B4-BE49-F238E27FC236}">
                <a16:creationId xmlns:a16="http://schemas.microsoft.com/office/drawing/2014/main" id="{8F755D8E-27FB-4CDC-86E1-C4955731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3108960"/>
            <a:ext cx="2926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  <a:endParaRPr sz="1000" b="1" i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7" name="TextBox 20">
            <a:extLst xmlns:a="http://schemas.openxmlformats.org/drawingml/2006/main">
              <a:ext uri="{FF2B5EF4-FFF2-40B4-BE49-F238E27FC236}">
                <a16:creationId xmlns:a16="http://schemas.microsoft.com/office/drawing/2014/main" id="{000E7A77-38B5-48E3-9977-8CCC9D99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984" y="3630168"/>
            <a:ext cx="71323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4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Speech</a:t>
            </a:r>
            <a:endParaRPr sz="94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8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F21AAF1B-4694-4B16-B989-8B826DDE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264408"/>
            <a:ext cx="347472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AFC5D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FC53E47E-8080-425F-8039-5FF6F6CE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298094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4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3">
            <a:extLst xmlns:a="http://schemas.openxmlformats.org/drawingml/2006/main">
              <a:ext uri="{FF2B5EF4-FFF2-40B4-BE49-F238E27FC236}">
                <a16:creationId xmlns:a16="http://schemas.microsoft.com/office/drawing/2014/main" id="{3ED5063B-2D47-4654-855F-01106348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3108960"/>
            <a:ext cx="2926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  <a:endParaRPr sz="1000" b="1" i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1" name="TextBox 24">
            <a:extLst xmlns:a="http://schemas.openxmlformats.org/drawingml/2006/main">
              <a:ext uri="{FF2B5EF4-FFF2-40B4-BE49-F238E27FC236}">
                <a16:creationId xmlns:a16="http://schemas.microsoft.com/office/drawing/2014/main" id="{9AF02E0F-C2EA-4B3A-9AC5-8437B12C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630168"/>
            <a:ext cx="71323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4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STT + pause
detection</a:t>
            </a:r>
            <a:endParaRPr sz="94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2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DEE7E6DB-A79B-4CE7-AC4D-DA96DA97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264408"/>
            <a:ext cx="347472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AFC5D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A68A8994-04DB-4D29-8D74-05EE1AB7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944" y="298094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27">
            <a:extLst xmlns:a="http://schemas.openxmlformats.org/drawingml/2006/main">
              <a:ext uri="{FF2B5EF4-FFF2-40B4-BE49-F238E27FC236}">
                <a16:creationId xmlns:a16="http://schemas.microsoft.com/office/drawing/2014/main" id="{09BA786B-0AA8-43AE-9566-FF39DBF6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0104" y="3108960"/>
            <a:ext cx="2926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  <a:endParaRPr sz="1000" b="1" i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5" name="TextBox 28">
            <a:extLst xmlns:a="http://schemas.openxmlformats.org/drawingml/2006/main">
              <a:ext uri="{FF2B5EF4-FFF2-40B4-BE49-F238E27FC236}">
                <a16:creationId xmlns:a16="http://schemas.microsoft.com/office/drawing/2014/main" id="{11A5401D-0347-4F8E-BE49-CAF0D4A3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936" y="3630168"/>
            <a:ext cx="71323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4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Compact
text packet</a:t>
            </a:r>
            <a:endParaRPr sz="94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6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977A3ED4-FACD-46BA-87D1-07324D8D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3264408"/>
            <a:ext cx="347472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AFC5D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F23D2811-D371-4F7D-BF28-0EF9F273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19" y="298094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1">
            <a:extLst xmlns:a="http://schemas.openxmlformats.org/drawingml/2006/main">
              <a:ext uri="{FF2B5EF4-FFF2-40B4-BE49-F238E27FC236}">
                <a16:creationId xmlns:a16="http://schemas.microsoft.com/office/drawing/2014/main" id="{F7162393-EB4F-4751-8CC6-06CB6B15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108960"/>
            <a:ext cx="2926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4</a:t>
            </a:r>
            <a:endParaRPr sz="1000" b="1" i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9" name="TextBox 32">
            <a:extLst xmlns:a="http://schemas.openxmlformats.org/drawingml/2006/main">
              <a:ext uri="{FF2B5EF4-FFF2-40B4-BE49-F238E27FC236}">
                <a16:creationId xmlns:a16="http://schemas.microsoft.com/office/drawing/2014/main" id="{249A5B4B-0816-444E-9CCB-E4E4C26B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3630168"/>
            <a:ext cx="71323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4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Wi‑Fi /
Bluetooth</a:t>
            </a:r>
            <a:endParaRPr sz="94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0" name="Connector 33">
            <a:extLst xmlns:a="http://schemas.openxmlformats.org/drawingml/2006/main">
              <a:ext uri="{FF2B5EF4-FFF2-40B4-BE49-F238E27FC236}">
                <a16:creationId xmlns:a16="http://schemas.microsoft.com/office/drawing/2014/main" id="{1E50BDEF-ACF9-4C4E-BBD8-82B7D0AD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3264408"/>
            <a:ext cx="347471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AFC5D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Oval 40">
            <a:extLst xmlns:a="http://schemas.openxmlformats.org/drawingml/2006/main">
              <a:ext uri="{FF2B5EF4-FFF2-40B4-BE49-F238E27FC236}">
                <a16:creationId xmlns:a16="http://schemas.microsoft.com/office/drawing/2014/main" id="{88875D69-7A24-49B4-8C76-A4A2EEB8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896" y="298094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4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TextBox 35">
            <a:extLst xmlns:a="http://schemas.openxmlformats.org/drawingml/2006/main">
              <a:ext uri="{FF2B5EF4-FFF2-40B4-BE49-F238E27FC236}">
                <a16:creationId xmlns:a16="http://schemas.microsoft.com/office/drawing/2014/main" id="{D0E1825D-13A6-4AA6-A1E0-E806C413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056" y="3108960"/>
            <a:ext cx="2926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5</a:t>
            </a:r>
            <a:endParaRPr sz="1000" b="1" i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3" name="TextBox 36">
            <a:extLst xmlns:a="http://schemas.openxmlformats.org/drawingml/2006/main">
              <a:ext uri="{FF2B5EF4-FFF2-40B4-BE49-F238E27FC236}">
                <a16:creationId xmlns:a16="http://schemas.microsoft.com/office/drawing/2014/main" id="{642AFC98-A74B-4FBB-BD92-C327A0A6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888" y="3630168"/>
            <a:ext cx="71323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4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TTS</a:t>
            </a:r>
            <a:endParaRPr sz="94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4" name="Connector 37">
            <a:extLst xmlns:a="http://schemas.openxmlformats.org/drawingml/2006/main">
              <a:ext uri="{FF2B5EF4-FFF2-40B4-BE49-F238E27FC236}">
                <a16:creationId xmlns:a16="http://schemas.microsoft.com/office/drawing/2014/main" id="{1C775508-26C3-4DF2-8E5A-AA1E264B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968" y="3264408"/>
            <a:ext cx="347472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AFC5D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5" name="Oval 44">
            <a:extLst xmlns:a="http://schemas.openxmlformats.org/drawingml/2006/main">
              <a:ext uri="{FF2B5EF4-FFF2-40B4-BE49-F238E27FC236}">
                <a16:creationId xmlns:a16="http://schemas.microsoft.com/office/drawing/2014/main" id="{4C66F756-6A53-4039-83EC-56E4804A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298094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4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Box 39">
            <a:extLst xmlns:a="http://schemas.openxmlformats.org/drawingml/2006/main">
              <a:ext uri="{FF2B5EF4-FFF2-40B4-BE49-F238E27FC236}">
                <a16:creationId xmlns:a16="http://schemas.microsoft.com/office/drawing/2014/main" id="{64F5955B-7712-463C-9BAC-C4AFD1F3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3032" y="3108960"/>
            <a:ext cx="2926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6</a:t>
            </a:r>
            <a:endParaRPr sz="1000" b="1" i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7" name="TextBox 40">
            <a:extLst xmlns:a="http://schemas.openxmlformats.org/drawingml/2006/main">
              <a:ext uri="{FF2B5EF4-FFF2-40B4-BE49-F238E27FC236}">
                <a16:creationId xmlns:a16="http://schemas.microsoft.com/office/drawing/2014/main" id="{CC11C4FD-5A2F-4A15-9373-924FD804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864" y="3630168"/>
            <a:ext cx="71323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4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Voice</a:t>
            </a:r>
            <a:endParaRPr sz="94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8" name="TextBox 41">
            <a:extLst xmlns:a="http://schemas.openxmlformats.org/drawingml/2006/main">
              <a:ext uri="{FF2B5EF4-FFF2-40B4-BE49-F238E27FC236}">
                <a16:creationId xmlns:a16="http://schemas.microsoft.com/office/drawing/2014/main" id="{27F62363-1F79-4101-87A9-C96FE340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28" y="4160520"/>
            <a:ext cx="5394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TEN LANGUAGES. ONE OFFLINE SPEECH PIPELINE.</a:t>
            </a:r>
            <a:endParaRPr sz="100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9" name="Rounded Rectangle 48">
            <a:extLst xmlns:a="http://schemas.openxmlformats.org/drawingml/2006/main">
              <a:ext uri="{FF2B5EF4-FFF2-40B4-BE49-F238E27FC236}">
                <a16:creationId xmlns:a16="http://schemas.microsoft.com/office/drawing/2014/main" id="{1D89FBE1-DFC2-4E10-8888-AB103622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28" y="4526280"/>
            <a:ext cx="987552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0" name="TextBox 43">
            <a:extLst xmlns:a="http://schemas.openxmlformats.org/drawingml/2006/main">
              <a:ext uri="{FF2B5EF4-FFF2-40B4-BE49-F238E27FC236}">
                <a16:creationId xmlns:a16="http://schemas.microsoft.com/office/drawing/2014/main" id="{9FC7CE2F-07B0-466E-ADCD-E7C6A50C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4544568"/>
            <a:ext cx="8961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Hindi</a:t>
            </a:r>
            <a:endParaRPr sz="86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1" name="Rounded Rectangle 50">
            <a:extLst xmlns:a="http://schemas.openxmlformats.org/drawingml/2006/main">
              <a:ext uri="{FF2B5EF4-FFF2-40B4-BE49-F238E27FC236}">
                <a16:creationId xmlns:a16="http://schemas.microsoft.com/office/drawing/2014/main" id="{E67D1A3C-7C1D-48C7-B962-2D783981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4526280"/>
            <a:ext cx="987552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45">
            <a:extLst xmlns:a="http://schemas.openxmlformats.org/drawingml/2006/main">
              <a:ext uri="{FF2B5EF4-FFF2-40B4-BE49-F238E27FC236}">
                <a16:creationId xmlns:a16="http://schemas.microsoft.com/office/drawing/2014/main" id="{E27249C3-2370-4B94-8C81-04A28E37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4544568"/>
            <a:ext cx="8961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Gujarati</a:t>
            </a:r>
            <a:endParaRPr sz="86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3" name="Rounded Rectangle 52">
            <a:extLst xmlns:a="http://schemas.openxmlformats.org/drawingml/2006/main">
              <a:ext uri="{FF2B5EF4-FFF2-40B4-BE49-F238E27FC236}">
                <a16:creationId xmlns:a16="http://schemas.microsoft.com/office/drawing/2014/main" id="{E79887DF-4C19-41B7-BF4A-6C571073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4526280"/>
            <a:ext cx="987552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4" name="TextBox 47">
            <a:extLst xmlns:a="http://schemas.openxmlformats.org/drawingml/2006/main">
              <a:ext uri="{FF2B5EF4-FFF2-40B4-BE49-F238E27FC236}">
                <a16:creationId xmlns:a16="http://schemas.microsoft.com/office/drawing/2014/main" id="{F6F76643-6C96-425F-9D30-4F20BFBA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4544568"/>
            <a:ext cx="8961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Marathi</a:t>
            </a:r>
            <a:endParaRPr sz="86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5" name="Rounded Rectangle 54">
            <a:extLst xmlns:a="http://schemas.openxmlformats.org/drawingml/2006/main">
              <a:ext uri="{FF2B5EF4-FFF2-40B4-BE49-F238E27FC236}">
                <a16:creationId xmlns:a16="http://schemas.microsoft.com/office/drawing/2014/main" id="{E75D2F59-5E44-4678-BF02-073E88CF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7" y="4526280"/>
            <a:ext cx="987552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49">
            <a:extLst xmlns:a="http://schemas.openxmlformats.org/drawingml/2006/main">
              <a:ext uri="{FF2B5EF4-FFF2-40B4-BE49-F238E27FC236}">
                <a16:creationId xmlns:a16="http://schemas.microsoft.com/office/drawing/2014/main" id="{BA95D2A0-0957-4BE0-AC21-C3E09E9E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4544568"/>
            <a:ext cx="8961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Kannada</a:t>
            </a:r>
            <a:endParaRPr sz="86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7" name="Rounded Rectangle 56">
            <a:extLst xmlns:a="http://schemas.openxmlformats.org/drawingml/2006/main">
              <a:ext uri="{FF2B5EF4-FFF2-40B4-BE49-F238E27FC236}">
                <a16:creationId xmlns:a16="http://schemas.microsoft.com/office/drawing/2014/main" id="{530E1691-6C13-4BD8-A493-1292EEE4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526280"/>
            <a:ext cx="987552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TextBox 51">
            <a:extLst xmlns:a="http://schemas.openxmlformats.org/drawingml/2006/main">
              <a:ext uri="{FF2B5EF4-FFF2-40B4-BE49-F238E27FC236}">
                <a16:creationId xmlns:a16="http://schemas.microsoft.com/office/drawing/2014/main" id="{88C24A72-0BA0-4653-8F1C-6C9ED96B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968" y="4544568"/>
            <a:ext cx="8961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Malayalam</a:t>
            </a:r>
            <a:endParaRPr sz="86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9" name="Rounded Rectangle 58">
            <a:extLst xmlns:a="http://schemas.openxmlformats.org/drawingml/2006/main">
              <a:ext uri="{FF2B5EF4-FFF2-40B4-BE49-F238E27FC236}">
                <a16:creationId xmlns:a16="http://schemas.microsoft.com/office/drawing/2014/main" id="{FBCF4D10-FEBB-489D-988D-0AEAC764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28" y="4956048"/>
            <a:ext cx="987552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0" name="TextBox 53">
            <a:extLst xmlns:a="http://schemas.openxmlformats.org/drawingml/2006/main">
              <a:ext uri="{FF2B5EF4-FFF2-40B4-BE49-F238E27FC236}">
                <a16:creationId xmlns:a16="http://schemas.microsoft.com/office/drawing/2014/main" id="{8974C036-E82F-4D04-A7F1-43E72A19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4974336"/>
            <a:ext cx="8961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Tamil</a:t>
            </a:r>
            <a:endParaRPr sz="86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1" name="Rounded Rectangle 60">
            <a:extLst xmlns:a="http://schemas.openxmlformats.org/drawingml/2006/main">
              <a:ext uri="{FF2B5EF4-FFF2-40B4-BE49-F238E27FC236}">
                <a16:creationId xmlns:a16="http://schemas.microsoft.com/office/drawing/2014/main" id="{C8696A15-6993-4535-9D14-9A1432F3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4956048"/>
            <a:ext cx="987552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55">
            <a:extLst xmlns:a="http://schemas.openxmlformats.org/drawingml/2006/main">
              <a:ext uri="{FF2B5EF4-FFF2-40B4-BE49-F238E27FC236}">
                <a16:creationId xmlns:a16="http://schemas.microsoft.com/office/drawing/2014/main" id="{66E1E594-5B9F-472D-B59C-9A096257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4974336"/>
            <a:ext cx="8961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Telugu</a:t>
            </a:r>
            <a:endParaRPr sz="86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3" name="Rounded Rectangle 62">
            <a:extLst xmlns:a="http://schemas.openxmlformats.org/drawingml/2006/main">
              <a:ext uri="{FF2B5EF4-FFF2-40B4-BE49-F238E27FC236}">
                <a16:creationId xmlns:a16="http://schemas.microsoft.com/office/drawing/2014/main" id="{E5330470-EE58-44B9-B2E7-A87942F9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4956048"/>
            <a:ext cx="987552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4" name="TextBox 57">
            <a:extLst xmlns:a="http://schemas.openxmlformats.org/drawingml/2006/main">
              <a:ext uri="{FF2B5EF4-FFF2-40B4-BE49-F238E27FC236}">
                <a16:creationId xmlns:a16="http://schemas.microsoft.com/office/drawing/2014/main" id="{23FAD2F6-AB65-4F19-9754-3529A818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4974336"/>
            <a:ext cx="8961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Odia</a:t>
            </a:r>
            <a:endParaRPr sz="86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5" name="Rounded Rectangle 64">
            <a:extLst xmlns:a="http://schemas.openxmlformats.org/drawingml/2006/main">
              <a:ext uri="{FF2B5EF4-FFF2-40B4-BE49-F238E27FC236}">
                <a16:creationId xmlns:a16="http://schemas.microsoft.com/office/drawing/2014/main" id="{7AD18ADF-80D0-4ADB-8D18-CBD3E53C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7" y="4956048"/>
            <a:ext cx="987552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6" name="TextBox 59">
            <a:extLst xmlns:a="http://schemas.openxmlformats.org/drawingml/2006/main">
              <a:ext uri="{FF2B5EF4-FFF2-40B4-BE49-F238E27FC236}">
                <a16:creationId xmlns:a16="http://schemas.microsoft.com/office/drawing/2014/main" id="{7CA5E3EE-FDAD-4AAA-A4D3-8590E0D6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4974336"/>
            <a:ext cx="8961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Bengali</a:t>
            </a:r>
            <a:endParaRPr sz="86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7" name="Rounded Rectangle 66">
            <a:extLst xmlns:a="http://schemas.openxmlformats.org/drawingml/2006/main">
              <a:ext uri="{FF2B5EF4-FFF2-40B4-BE49-F238E27FC236}">
                <a16:creationId xmlns:a16="http://schemas.microsoft.com/office/drawing/2014/main" id="{6B9D7593-C289-45A2-82F6-D99D5C4F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956048"/>
            <a:ext cx="987552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8" name="TextBox 61">
            <a:extLst xmlns:a="http://schemas.openxmlformats.org/drawingml/2006/main">
              <a:ext uri="{FF2B5EF4-FFF2-40B4-BE49-F238E27FC236}">
                <a16:creationId xmlns:a16="http://schemas.microsoft.com/office/drawing/2014/main" id="{476D9580-2669-41F8-A1E7-B4B6794D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968" y="4974336"/>
            <a:ext cx="8961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English</a:t>
            </a:r>
            <a:endParaRPr sz="86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9" name="Rounded Rectangle 68">
            <a:extLst xmlns:a="http://schemas.openxmlformats.org/drawingml/2006/main">
              <a:ext uri="{FF2B5EF4-FFF2-40B4-BE49-F238E27FC236}">
                <a16:creationId xmlns:a16="http://schemas.microsoft.com/office/drawing/2014/main" id="{A9699B4F-5D51-4FAD-BD2C-950B51AB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28" y="5468112"/>
            <a:ext cx="5852160" cy="70408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2700">
            <a:solidFill>
              <a:srgbClr val="D5E6F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0" name="TextBox 63">
            <a:extLst xmlns:a="http://schemas.openxmlformats.org/drawingml/2006/main">
              <a:ext uri="{FF2B5EF4-FFF2-40B4-BE49-F238E27FC236}">
                <a16:creationId xmlns:a16="http://schemas.microsoft.com/office/drawing/2014/main" id="{26513550-F301-4B50-8566-DC6CC05F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5559552"/>
            <a:ext cx="14173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Core design:</a:t>
            </a:r>
            <a:endParaRPr sz="90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1" name="TextBox 64">
            <a:extLst xmlns:a="http://schemas.openxmlformats.org/drawingml/2006/main">
              <a:ext uri="{FF2B5EF4-FFF2-40B4-BE49-F238E27FC236}">
                <a16:creationId xmlns:a16="http://schemas.microsoft.com/office/drawing/2014/main" id="{50AF2CE5-FB27-4B6F-B92A-29839B67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5513832"/>
            <a:ext cx="3886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Speech -&gt; local STT -&gt; compact text -&gt; local TTS</a:t>
            </a:r>
            <a:endParaRPr sz="106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2" name="TextBox 65">
            <a:extLst xmlns:a="http://schemas.openxmlformats.org/drawingml/2006/main">
              <a:ext uri="{FF2B5EF4-FFF2-40B4-BE49-F238E27FC236}">
                <a16:creationId xmlns:a16="http://schemas.microsoft.com/office/drawing/2014/main" id="{441193E9-5926-4888-83A6-0C957D48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5779008"/>
            <a:ext cx="4005072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 i="0">
                <a:solidFill>
                  <a:srgbClr val="617284"/>
                </a:solidFill>
                <a:latin typeface="Inter"/>
                <a:ea typeface="Inter"/>
                <a:cs typeface="Inter"/>
              </a:rPr>
              <a:t>Selected speech packs run locally after initial model download.</a:t>
            </a:r>
            <a:endParaRPr sz="850" b="0" i="0">
              <a:solidFill>
                <a:srgbClr val="617284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5" name="TextBox 68">
            <a:extLst xmlns:a="http://schemas.openxmlformats.org/drawingml/2006/main">
              <a:ext uri="{FF2B5EF4-FFF2-40B4-BE49-F238E27FC236}">
                <a16:creationId xmlns:a16="http://schemas.microsoft.com/office/drawing/2014/main" id="{0C677AC3-A270-4634-961D-070589EF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6248"/>
            <a:ext cx="640080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rgbClr val="7E8C99"/>
                </a:solidFill>
                <a:latin typeface="Inter"/>
                <a:ea typeface="Inter"/>
                <a:cs typeface="Inter"/>
              </a:rPr>
              <a:t>2/6</a:t>
            </a:r>
            <a:endParaRPr sz="800" b="0" i="0">
              <a:solidFill>
                <a:srgbClr val="7E8C99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D8DC71B2-55CA-4B4B-856A-7C6AA224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Git Bit</a:t>
            </a:r>
            <a:endParaRPr/>
          </a:p>
        </p:txBody>
      </p:sp>
      <p:sp>
        <p:nvSpPr>
          <p:cNvPr id="15363" name="TextBox 15362">
            <a:extLst xmlns:a="http://schemas.openxmlformats.org/drawingml/2006/main">
              <a:ext uri="{FF2B5EF4-FFF2-40B4-BE49-F238E27FC236}">
                <a16:creationId xmlns:a16="http://schemas.microsoft.com/office/drawing/2014/main" id="{E90196C4-4F56-4F20-9176-7BFC2B5A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28" y="2542032"/>
            <a:ext cx="589788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203040"/>
                </a:solidFill>
                <a:latin typeface="Inter"/>
                <a:ea typeface="Inter"/>
                <a:cs typeface="Inter"/>
              </a:rPr>
              <a:t>On-device speech processing and direct Bluetooth / Wi-Fi Direct transport keep the core voice flow independent of cloud inference.</a:t>
            </a:r>
          </a:p>
        </p:txBody>
      </p:sp>
    </p:spTree>
    <p:extLst>
      <p:ext uri="{BB962C8B-B14F-4D97-AF65-F5344CB8AC3E}">
        <p14:creationId xmlns:p14="http://schemas.microsoft.com/office/powerpoint/2010/main" val="2651214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3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d7acdf3644e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91519" y="-40704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33D0971-1896-4F7E-8173-5028C2B0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14932"/>
            <a:ext cx="8366760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2026</a:t>
            </a:r>
            <a:endParaRPr sz="2800" b="1" i="1" u="sng">
              <a:latin typeface="ROG Fonts"/>
              <a:ea typeface="ROG Fonts"/>
              <a:cs typeface="ROG Fonts"/>
            </a:endParaR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2CE37BA-3B75-4155-BB93-BE10982B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20140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B"/>
          </a:solidFill>
          <a:ln xmlns:a="http://schemas.openxmlformats.org/drawingml/2006/main">
            <a:solidFill>
              <a:srgbClr val="D6E0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5">
            <a:extLst xmlns:a="http://schemas.openxmlformats.org/drawingml/2006/main">
              <a:ext uri="{FF2B5EF4-FFF2-40B4-BE49-F238E27FC236}">
                <a16:creationId xmlns:a16="http://schemas.microsoft.com/office/drawing/2014/main" id="{B3F5BD33-A5AF-4E74-BB8E-2D940896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519672"/>
            <a:ext cx="548640" cy="130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637081"/>
                </a:solidFill>
                <a:latin typeface="Aptos"/>
                <a:ea typeface="Aptos"/>
                <a:cs typeface="Aptos"/>
              </a:rPr>
              <a:t>3</a:t>
            </a:r>
            <a:r>
              <a:rPr sz="850" b="0">
                <a:solidFill>
                  <a:srgbClr val="637081"/>
                </a:solidFill>
                <a:latin typeface="Aptos"/>
                <a:ea typeface="Aptos"/>
                <a:cs typeface="Aptos"/>
              </a:rPr>
              <a:t>/6</a:t>
            </a:r>
            <a:endParaRPr sz="850" b="0">
              <a:solidFill>
                <a:srgbClr val="63708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TextBox 7">
            <a:extLst xmlns:a="http://schemas.openxmlformats.org/drawingml/2006/main">
              <a:ext uri="{FF2B5EF4-FFF2-40B4-BE49-F238E27FC236}">
                <a16:creationId xmlns:a16="http://schemas.microsoft.com/office/drawing/2014/main" id="{6DF6B937-5C87-4705-8148-8509CBD1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35024"/>
            <a:ext cx="10058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637081"/>
                </a:solidFill>
                <a:latin typeface="Aptos"/>
                <a:ea typeface="Aptos"/>
                <a:cs typeface="Aptos"/>
              </a:rPr>
              <a:t>Kotlin / Compose + sherpa-onnx: local speech processing and encrypted direct peer links.</a:t>
            </a:r>
            <a:endParaRPr sz="1250" b="0">
              <a:solidFill>
                <a:srgbClr val="63708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A1A4685C-CD30-4A00-9BFC-214CE8BC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28800"/>
            <a:ext cx="1051560" cy="2148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29B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9C216385-9FF4-440A-8AA1-2BBAC1FD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79" y="1920240"/>
            <a:ext cx="182880" cy="365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A5B9"/>
          </a:solidFill>
          <a:ln xmlns:a="http://schemas.openxmlformats.org/drawingml/2006/main">
            <a:solidFill>
              <a:srgbClr val="96A5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0">
            <a:extLst xmlns:a="http://schemas.openxmlformats.org/drawingml/2006/main">
              <a:ext uri="{FF2B5EF4-FFF2-40B4-BE49-F238E27FC236}">
                <a16:creationId xmlns:a16="http://schemas.microsoft.com/office/drawing/2014/main" id="{F761D92D-A83A-4D54-831D-7654F1C2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74620"/>
            <a:ext cx="868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0076D2"/>
                </a:solidFill>
                <a:latin typeface="Aptos"/>
                <a:ea typeface="Aptos"/>
                <a:cs typeface="Aptos"/>
              </a:rPr>
              <a:t>NODE A</a:t>
            </a:r>
            <a:endParaRPr sz="1500" b="1">
              <a:solidFill>
                <a:srgbClr val="0076D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TextBox 11">
            <a:extLst xmlns:a="http://schemas.openxmlformats.org/drawingml/2006/main">
              <a:ext uri="{FF2B5EF4-FFF2-40B4-BE49-F238E27FC236}">
                <a16:creationId xmlns:a16="http://schemas.microsoft.com/office/drawing/2014/main" id="{429B3AEE-A290-4172-AE3C-D1519702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67812"/>
            <a:ext cx="868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0">
                <a:solidFill>
                  <a:srgbClr val="637081"/>
                </a:solidFill>
                <a:latin typeface="Aptos"/>
                <a:ea typeface="Aptos"/>
                <a:cs typeface="Aptos"/>
              </a:rPr>
              <a:t>Android</a:t>
            </a:r>
            <a:endParaRPr sz="750" b="0">
              <a:solidFill>
                <a:srgbClr val="63708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F478FE5D-19AF-4446-8A33-1E5E3EDD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1828800"/>
            <a:ext cx="914400" cy="2148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29B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012C71C6-ABF9-4A31-A7FA-EE0E2A9D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1920240"/>
            <a:ext cx="182880" cy="365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A5B9"/>
          </a:solidFill>
          <a:ln xmlns:a="http://schemas.openxmlformats.org/drawingml/2006/main">
            <a:solidFill>
              <a:srgbClr val="96A5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14">
            <a:extLst xmlns:a="http://schemas.openxmlformats.org/drawingml/2006/main">
              <a:ext uri="{FF2B5EF4-FFF2-40B4-BE49-F238E27FC236}">
                <a16:creationId xmlns:a16="http://schemas.microsoft.com/office/drawing/2014/main" id="{FCD8AAC1-D42A-4BB0-9162-63ADA2D7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267462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0076D2"/>
                </a:solidFill>
                <a:latin typeface="Aptos"/>
                <a:ea typeface="Aptos"/>
                <a:cs typeface="Aptos"/>
              </a:rPr>
              <a:t>NODE B</a:t>
            </a:r>
            <a:endParaRPr sz="1500" b="1">
              <a:solidFill>
                <a:srgbClr val="0076D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TextBox 15">
            <a:extLst xmlns:a="http://schemas.openxmlformats.org/drawingml/2006/main">
              <a:ext uri="{FF2B5EF4-FFF2-40B4-BE49-F238E27FC236}">
                <a16:creationId xmlns:a16="http://schemas.microsoft.com/office/drawing/2014/main" id="{5287F1FD-7959-4369-B109-44EF4EAD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3067812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0">
                <a:solidFill>
                  <a:srgbClr val="637081"/>
                </a:solidFill>
                <a:latin typeface="Aptos"/>
                <a:ea typeface="Aptos"/>
                <a:cs typeface="Aptos"/>
              </a:rPr>
              <a:t>Android</a:t>
            </a:r>
            <a:endParaRPr sz="750" b="0">
              <a:solidFill>
                <a:srgbClr val="63708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BDE66779-D2D8-4BA0-A0B5-9206A6CE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19" y="2331720"/>
            <a:ext cx="914401" cy="0"/>
          </a:xfrm>
          <a:prstGeom xmlns:a="http://schemas.openxmlformats.org/drawingml/2006/main" prst="line">
            <a:avLst/>
          </a:prstGeom>
          <a:ln xmlns:a="http://schemas.openxmlformats.org/drawingml/2006/main" w="27940">
            <a:solidFill>
              <a:srgbClr val="0076D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4AA18A38-37A0-4775-BFE1-303A5DEF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1691640"/>
            <a:ext cx="1143000" cy="1280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8FF"/>
          </a:solidFill>
          <a:ln xmlns:a="http://schemas.openxmlformats.org/drawingml/2006/main" w="12700">
            <a:solidFill>
              <a:srgbClr val="BEDE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18">
            <a:extLst xmlns:a="http://schemas.openxmlformats.org/drawingml/2006/main">
              <a:ext uri="{FF2B5EF4-FFF2-40B4-BE49-F238E27FC236}">
                <a16:creationId xmlns:a16="http://schemas.microsoft.com/office/drawing/2014/main" id="{274498E9-6623-4960-9BFF-0CE310B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1892807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0076D2"/>
                </a:solidFill>
                <a:latin typeface="Aptos"/>
                <a:ea typeface="Aptos"/>
                <a:cs typeface="Aptos"/>
              </a:rPr>
              <a:t>STT</a:t>
            </a:r>
            <a:endParaRPr sz="1800" b="1">
              <a:solidFill>
                <a:srgbClr val="0076D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TextBox 19">
            <a:extLst xmlns:a="http://schemas.openxmlformats.org/drawingml/2006/main">
              <a:ext uri="{FF2B5EF4-FFF2-40B4-BE49-F238E27FC236}">
                <a16:creationId xmlns:a16="http://schemas.microsoft.com/office/drawing/2014/main" id="{0D22C026-B2FF-4882-A3C5-E24EC9C5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2331720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637081"/>
                </a:solidFill>
                <a:latin typeface="Aptos"/>
                <a:ea typeface="Aptos"/>
                <a:cs typeface="Aptos"/>
              </a:rPr>
              <a:t>Selected pack</a:t>
            </a:r>
            <a:endParaRPr sz="850" b="0">
              <a:solidFill>
                <a:srgbClr val="637081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110" name="Connector 20"/>
          <p:cNvCxnSpPr>
            <a:stCxn xmlns:a="http://schemas.openxmlformats.org/drawingml/2006/main" id="26" idx="3"/>
          </p:cNvCxnSpPr>
          <p:nvPr/>
        </p:nvCxnSpPr>
        <p:spPr>
          <a:xfrm xmlns:a="http://schemas.openxmlformats.org/drawingml/2006/main">
            <a:off x="3977640" y="2331720"/>
            <a:ext cx="731520" cy="0"/>
          </a:xfrm>
          <a:prstGeom xmlns:a="http://schemas.openxmlformats.org/drawingml/2006/main" prst="line">
            <a:avLst/>
          </a:prstGeom>
          <a:ln xmlns:a="http://schemas.openxmlformats.org/drawingml/2006/main" w="27940">
            <a:solidFill>
              <a:srgbClr val="0076D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161551C3-D942-4858-8C98-50DEE5D6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691640"/>
            <a:ext cx="1325880" cy="1280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BF8"/>
          </a:solidFill>
          <a:ln xmlns:a="http://schemas.openxmlformats.org/drawingml/2006/main" w="12700">
            <a:solidFill>
              <a:srgbClr val="C8EB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22">
            <a:extLst xmlns:a="http://schemas.openxmlformats.org/drawingml/2006/main">
              <a:ext uri="{FF2B5EF4-FFF2-40B4-BE49-F238E27FC236}">
                <a16:creationId xmlns:a16="http://schemas.microsoft.com/office/drawing/2014/main" id="{9A0116D7-D480-4F6B-952D-4308DF66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1892807"/>
            <a:ext cx="640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009664"/>
                </a:solidFill>
                <a:latin typeface="Aptos"/>
                <a:ea typeface="Aptos"/>
                <a:cs typeface="Aptos"/>
              </a:rPr>
              <a:t>TXT</a:t>
            </a:r>
            <a:endParaRPr sz="1800" b="1">
              <a:solidFill>
                <a:srgbClr val="00966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TextBox 23">
            <a:extLst xmlns:a="http://schemas.openxmlformats.org/drawingml/2006/main">
              <a:ext uri="{FF2B5EF4-FFF2-40B4-BE49-F238E27FC236}">
                <a16:creationId xmlns:a16="http://schemas.microsoft.com/office/drawing/2014/main" id="{782974E4-09BD-40E2-BE57-1B576C9B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2331720"/>
            <a:ext cx="10241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637081"/>
                </a:solidFill>
                <a:latin typeface="Aptos"/>
                <a:ea typeface="Aptos"/>
                <a:cs typeface="Aptos"/>
              </a:rPr>
              <a:t>compact packet</a:t>
            </a:r>
            <a:endParaRPr sz="850" b="0">
              <a:solidFill>
                <a:srgbClr val="637081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114" name="Connector 24"/>
          <p:cNvCxnSpPr>
            <a:stCxn xmlns:a="http://schemas.openxmlformats.org/drawingml/2006/main" id="30" idx="3"/>
          </p:cNvCxnSpPr>
          <p:nvPr/>
        </p:nvCxnSpPr>
        <p:spPr>
          <a:xfrm xmlns:a="http://schemas.openxmlformats.org/drawingml/2006/main">
            <a:off x="6080760" y="2331720"/>
            <a:ext cx="685800" cy="0"/>
          </a:xfrm>
          <a:prstGeom xmlns:a="http://schemas.openxmlformats.org/drawingml/2006/main" prst="line">
            <a:avLst/>
          </a:prstGeom>
          <a:ln xmlns:a="http://schemas.openxmlformats.org/drawingml/2006/main" w="27940">
            <a:solidFill>
              <a:srgbClr val="0076D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C7166D2F-876B-47CB-889B-3C688205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481328"/>
            <a:ext cx="2057400" cy="1691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9F4"/>
          </a:solidFill>
          <a:ln xmlns:a="http://schemas.openxmlformats.org/drawingml/2006/main" w="12700">
            <a:solidFill>
              <a:srgbClr val="FFDE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26">
            <a:extLst xmlns:a="http://schemas.openxmlformats.org/drawingml/2006/main">
              <a:ext uri="{FF2B5EF4-FFF2-40B4-BE49-F238E27FC236}">
                <a16:creationId xmlns:a16="http://schemas.microsoft.com/office/drawing/2014/main" id="{FC6847F5-26B8-4B78-A012-03BBFBA1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709928"/>
            <a:ext cx="1234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EF6923"/>
                </a:solidFill>
                <a:latin typeface="Aptos"/>
                <a:ea typeface="Aptos"/>
                <a:cs typeface="Aptos"/>
              </a:rPr>
              <a:t>P2P LINK</a:t>
            </a:r>
            <a:endParaRPr sz="1600" b="1">
              <a:solidFill>
                <a:srgbClr val="EF692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TextBox 27">
            <a:extLst xmlns:a="http://schemas.openxmlformats.org/drawingml/2006/main">
              <a:ext uri="{FF2B5EF4-FFF2-40B4-BE49-F238E27FC236}">
                <a16:creationId xmlns:a16="http://schemas.microsoft.com/office/drawing/2014/main" id="{BBCB44C1-468A-4C09-A72D-5C59692B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084831"/>
            <a:ext cx="14173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70" b="0">
                <a:solidFill>
                  <a:srgbClr val="172030"/>
                </a:solidFill>
                <a:latin typeface="Aptos"/>
                <a:ea typeface="Aptos"/>
                <a:cs typeface="Aptos"/>
              </a:rPr>
              <a:t>Bluetooth RFCOMM</a:t>
            </a:r>
            <a:br/>
            <a:r>
              <a:rPr sz="870" b="0">
                <a:solidFill>
                  <a:srgbClr val="172030"/>
                </a:solidFill>
                <a:latin typeface="Aptos"/>
                <a:ea typeface="Aptos"/>
                <a:cs typeface="Aptos"/>
              </a:rPr>
              <a:t>Wi‑Fi Direct TCP</a:t>
            </a:r>
            <a:br/>
            <a:r>
              <a:rPr sz="870" b="0">
                <a:solidFill>
                  <a:srgbClr val="172030"/>
                </a:solidFill>
                <a:latin typeface="Aptos"/>
                <a:ea typeface="Aptos"/>
                <a:cs typeface="Aptos"/>
              </a:rPr>
              <a:t>AES‑GCM secured</a:t>
            </a:r>
            <a:endParaRPr sz="870" b="0">
              <a:solidFill>
                <a:srgbClr val="1720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Connector 28">
            <a:extLst xmlns:a="http://schemas.openxmlformats.org/drawingml/2006/main">
              <a:ext uri="{FF2B5EF4-FFF2-40B4-BE49-F238E27FC236}">
                <a16:creationId xmlns:a16="http://schemas.microsoft.com/office/drawing/2014/main" id="{11D312FC-F866-48CA-B2F8-EA904C7B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553" y="2331720"/>
            <a:ext cx="429895" cy="0"/>
          </a:xfrm>
          <a:prstGeom xmlns:a="http://schemas.openxmlformats.org/drawingml/2006/main" prst="line">
            <a:avLst/>
          </a:prstGeom>
          <a:ln xmlns:a="http://schemas.openxmlformats.org/drawingml/2006/main" w="27940">
            <a:solidFill>
              <a:srgbClr val="0076D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27B08F4D-4525-48B0-A014-790F3527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1691640"/>
            <a:ext cx="1051560" cy="1280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8FF"/>
          </a:solidFill>
          <a:ln xmlns:a="http://schemas.openxmlformats.org/drawingml/2006/main" w="12700">
            <a:solidFill>
              <a:srgbClr val="BEDE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0">
            <a:extLst xmlns:a="http://schemas.openxmlformats.org/drawingml/2006/main">
              <a:ext uri="{FF2B5EF4-FFF2-40B4-BE49-F238E27FC236}">
                <a16:creationId xmlns:a16="http://schemas.microsoft.com/office/drawing/2014/main" id="{56B6AB85-17F6-4CC0-B569-854B8C4F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1892807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0076D2"/>
                </a:solidFill>
                <a:latin typeface="Aptos"/>
                <a:ea typeface="Aptos"/>
                <a:cs typeface="Aptos"/>
              </a:rPr>
              <a:t>TTS</a:t>
            </a:r>
            <a:endParaRPr sz="1800" b="1">
              <a:solidFill>
                <a:srgbClr val="0076D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" name="TextBox 31">
            <a:extLst xmlns:a="http://schemas.openxmlformats.org/drawingml/2006/main">
              <a:ext uri="{FF2B5EF4-FFF2-40B4-BE49-F238E27FC236}">
                <a16:creationId xmlns:a16="http://schemas.microsoft.com/office/drawing/2014/main" id="{31540EF3-09A4-4B15-A29B-8EAAF1BC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331720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637081"/>
                </a:solidFill>
                <a:latin typeface="Aptos"/>
                <a:ea typeface="Aptos"/>
                <a:cs typeface="Aptos"/>
              </a:rPr>
              <a:t>Selected voice</a:t>
            </a:r>
            <a:endParaRPr sz="850" b="0">
              <a:solidFill>
                <a:srgbClr val="63708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TextBox 32">
            <a:extLst xmlns:a="http://schemas.openxmlformats.org/drawingml/2006/main">
              <a:ext uri="{FF2B5EF4-FFF2-40B4-BE49-F238E27FC236}">
                <a16:creationId xmlns:a16="http://schemas.microsoft.com/office/drawing/2014/main" id="{4FA42FD7-F55F-4C07-B793-D9A27DCB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98848"/>
            <a:ext cx="2286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076D2"/>
                </a:solidFill>
                <a:latin typeface="Aptos"/>
                <a:ea typeface="Aptos"/>
                <a:cs typeface="Aptos"/>
              </a:rPr>
              <a:t>APPLICATION FEATURES</a:t>
            </a:r>
            <a:endParaRPr sz="1200" b="1">
              <a:solidFill>
                <a:srgbClr val="0076D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TextBox 33">
            <a:extLst xmlns:a="http://schemas.openxmlformats.org/drawingml/2006/main">
              <a:ext uri="{FF2B5EF4-FFF2-40B4-BE49-F238E27FC236}">
                <a16:creationId xmlns:a16="http://schemas.microsoft.com/office/drawing/2014/main" id="{1CCFCD52-B817-4F28-8F50-7526EDC7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92040"/>
            <a:ext cx="16459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20" b="1">
                <a:solidFill>
                  <a:srgbClr val="009664"/>
                </a:solidFill>
                <a:latin typeface="Aptos"/>
                <a:ea typeface="Aptos"/>
                <a:cs typeface="Aptos"/>
              </a:rPr>
              <a:t>✓</a:t>
            </a:r>
            <a:endParaRPr sz="1220" b="1">
              <a:solidFill>
                <a:srgbClr val="00966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3" name="TextBox 34">
            <a:extLst xmlns:a="http://schemas.openxmlformats.org/drawingml/2006/main">
              <a:ext uri="{FF2B5EF4-FFF2-40B4-BE49-F238E27FC236}">
                <a16:creationId xmlns:a16="http://schemas.microsoft.com/office/drawing/2014/main" id="{D9F77EC3-72AC-4AEA-AD71-EC8C7510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892040"/>
            <a:ext cx="2377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20" b="0">
                <a:solidFill>
                  <a:srgbClr val="172030"/>
                </a:solidFill>
                <a:latin typeface="Aptos"/>
                <a:ea typeface="Aptos"/>
                <a:cs typeface="Aptos"/>
              </a:rPr>
              <a:t>Local speech</a:t>
            </a:r>
            <a:endParaRPr sz="1020" b="0">
              <a:solidFill>
                <a:srgbClr val="1720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4" name="TextBox 35">
            <a:extLst xmlns:a="http://schemas.openxmlformats.org/drawingml/2006/main">
              <a:ext uri="{FF2B5EF4-FFF2-40B4-BE49-F238E27FC236}">
                <a16:creationId xmlns:a16="http://schemas.microsoft.com/office/drawing/2014/main" id="{71F97355-EEE8-4858-B2AF-548FC8BF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4901183"/>
            <a:ext cx="2148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70" b="0">
                <a:solidFill>
                  <a:srgbClr val="637081"/>
                </a:solidFill>
                <a:latin typeface="Aptos"/>
                <a:ea typeface="Aptos"/>
                <a:cs typeface="Aptos"/>
              </a:rPr>
              <a:t>STT/TTS after model provisioning</a:t>
            </a:r>
            <a:endParaRPr sz="870" b="0">
              <a:solidFill>
                <a:srgbClr val="63708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5" name="TextBox 36">
            <a:extLst xmlns:a="http://schemas.openxmlformats.org/drawingml/2006/main">
              <a:ext uri="{FF2B5EF4-FFF2-40B4-BE49-F238E27FC236}">
                <a16:creationId xmlns:a16="http://schemas.microsoft.com/office/drawing/2014/main" id="{3E0A180B-56F4-42F6-AB34-3199DBAD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59" y="4892040"/>
            <a:ext cx="16459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20" b="1">
                <a:solidFill>
                  <a:srgbClr val="009664"/>
                </a:solidFill>
                <a:latin typeface="Aptos"/>
                <a:ea typeface="Aptos"/>
                <a:cs typeface="Aptos"/>
              </a:rPr>
              <a:t>✓</a:t>
            </a:r>
            <a:endParaRPr sz="1220" b="1">
              <a:solidFill>
                <a:srgbClr val="00966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6" name="TextBox 37">
            <a:extLst xmlns:a="http://schemas.openxmlformats.org/drawingml/2006/main">
              <a:ext uri="{FF2B5EF4-FFF2-40B4-BE49-F238E27FC236}">
                <a16:creationId xmlns:a16="http://schemas.microsoft.com/office/drawing/2014/main" id="{B50DEB7C-22A8-45C9-BD54-F6E0E9DD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59" y="4892040"/>
            <a:ext cx="2377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20" b="0">
                <a:solidFill>
                  <a:srgbClr val="172030"/>
                </a:solidFill>
                <a:latin typeface="Aptos"/>
                <a:ea typeface="Aptos"/>
                <a:cs typeface="Aptos"/>
              </a:rPr>
              <a:t>Text transport</a:t>
            </a:r>
            <a:endParaRPr sz="1020" b="0">
              <a:solidFill>
                <a:srgbClr val="1720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7" name="TextBox 38">
            <a:extLst xmlns:a="http://schemas.openxmlformats.org/drawingml/2006/main">
              <a:ext uri="{FF2B5EF4-FFF2-40B4-BE49-F238E27FC236}">
                <a16:creationId xmlns:a16="http://schemas.microsoft.com/office/drawing/2014/main" id="{FD4E84BD-854D-4134-8AB2-FCB742D5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79" y="4901183"/>
            <a:ext cx="2148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70" b="0">
                <a:solidFill>
                  <a:srgbClr val="637081"/>
                </a:solidFill>
                <a:latin typeface="Aptos"/>
                <a:ea typeface="Aptos"/>
                <a:cs typeface="Aptos"/>
              </a:rPr>
              <a:t>Compact messages instead of audio</a:t>
            </a:r>
            <a:endParaRPr sz="870" b="0">
              <a:solidFill>
                <a:srgbClr val="63708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8" name="TextBox 39">
            <a:extLst xmlns:a="http://schemas.openxmlformats.org/drawingml/2006/main">
              <a:ext uri="{FF2B5EF4-FFF2-40B4-BE49-F238E27FC236}">
                <a16:creationId xmlns:a16="http://schemas.microsoft.com/office/drawing/2014/main" id="{4CAA7229-B8D2-461B-BB14-952B3A16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4892040"/>
            <a:ext cx="16459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20" b="1">
                <a:solidFill>
                  <a:srgbClr val="009664"/>
                </a:solidFill>
                <a:latin typeface="Aptos"/>
                <a:ea typeface="Aptos"/>
                <a:cs typeface="Aptos"/>
              </a:rPr>
              <a:t>✓</a:t>
            </a:r>
            <a:endParaRPr sz="1220" b="1">
              <a:solidFill>
                <a:srgbClr val="00966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9" name="TextBox 40">
            <a:extLst xmlns:a="http://schemas.openxmlformats.org/drawingml/2006/main">
              <a:ext uri="{FF2B5EF4-FFF2-40B4-BE49-F238E27FC236}">
                <a16:creationId xmlns:a16="http://schemas.microsoft.com/office/drawing/2014/main" id="{1457EECB-AC01-43AD-A3B8-98863BC0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892040"/>
            <a:ext cx="2377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20" b="0">
                <a:solidFill>
                  <a:srgbClr val="172030"/>
                </a:solidFill>
                <a:latin typeface="Aptos"/>
                <a:ea typeface="Aptos"/>
                <a:cs typeface="Aptos"/>
              </a:rPr>
              <a:t>Speech modes</a:t>
            </a:r>
            <a:endParaRPr sz="1020" b="0">
              <a:solidFill>
                <a:srgbClr val="1720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0" name="TextBox 41">
            <a:extLst xmlns:a="http://schemas.openxmlformats.org/drawingml/2006/main">
              <a:ext uri="{FF2B5EF4-FFF2-40B4-BE49-F238E27FC236}">
                <a16:creationId xmlns:a16="http://schemas.microsoft.com/office/drawing/2014/main" id="{05719E75-5319-4CEF-B70A-6FC7E12A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901183"/>
            <a:ext cx="2148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70" b="0">
                <a:solidFill>
                  <a:srgbClr val="637081"/>
                </a:solidFill>
                <a:latin typeface="Aptos"/>
                <a:ea typeface="Aptos"/>
                <a:cs typeface="Aptos"/>
              </a:rPr>
              <a:t>PTT and pause-delimited segments</a:t>
            </a:r>
            <a:endParaRPr sz="870" b="0">
              <a:solidFill>
                <a:srgbClr val="63708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1" name="TextBox 42">
            <a:extLst xmlns:a="http://schemas.openxmlformats.org/drawingml/2006/main">
              <a:ext uri="{FF2B5EF4-FFF2-40B4-BE49-F238E27FC236}">
                <a16:creationId xmlns:a16="http://schemas.microsoft.com/office/drawing/2014/main" id="{29F3C6E1-667C-47E6-B4C1-22E077DC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85816"/>
            <a:ext cx="16459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20" b="1">
                <a:solidFill>
                  <a:srgbClr val="009664"/>
                </a:solidFill>
                <a:latin typeface="Aptos"/>
                <a:ea typeface="Aptos"/>
                <a:cs typeface="Aptos"/>
              </a:rPr>
              <a:t>✓</a:t>
            </a:r>
            <a:endParaRPr sz="1220" b="1">
              <a:solidFill>
                <a:srgbClr val="00966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2" name="TextBox 43">
            <a:extLst xmlns:a="http://schemas.openxmlformats.org/drawingml/2006/main">
              <a:ext uri="{FF2B5EF4-FFF2-40B4-BE49-F238E27FC236}">
                <a16:creationId xmlns:a16="http://schemas.microsoft.com/office/drawing/2014/main" id="{6A336EB2-5227-447D-8F30-548D2C37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385816"/>
            <a:ext cx="2377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20" b="0">
                <a:solidFill>
                  <a:srgbClr val="172030"/>
                </a:solidFill>
                <a:latin typeface="Aptos"/>
                <a:ea typeface="Aptos"/>
                <a:cs typeface="Aptos"/>
              </a:rPr>
              <a:t>Emergency alert</a:t>
            </a:r>
            <a:endParaRPr sz="1020" b="0">
              <a:solidFill>
                <a:srgbClr val="1720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3" name="TextBox 44">
            <a:extLst xmlns:a="http://schemas.openxmlformats.org/drawingml/2006/main">
              <a:ext uri="{FF2B5EF4-FFF2-40B4-BE49-F238E27FC236}">
                <a16:creationId xmlns:a16="http://schemas.microsoft.com/office/drawing/2014/main" id="{A7E59E79-19AC-4449-86F5-C92E84C3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5394959"/>
            <a:ext cx="2148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70" b="0">
                <a:solidFill>
                  <a:srgbClr val="637081"/>
                </a:solidFill>
                <a:latin typeface="Aptos"/>
                <a:ea typeface="Aptos"/>
                <a:cs typeface="Aptos"/>
              </a:rPr>
              <a:t>Four compact SOS codes + playback</a:t>
            </a:r>
            <a:endParaRPr sz="870" b="0">
              <a:solidFill>
                <a:srgbClr val="63708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4" name="TextBox 45">
            <a:extLst xmlns:a="http://schemas.openxmlformats.org/drawingml/2006/main">
              <a:ext uri="{FF2B5EF4-FFF2-40B4-BE49-F238E27FC236}">
                <a16:creationId xmlns:a16="http://schemas.microsoft.com/office/drawing/2014/main" id="{F1FA3737-60C3-42AD-8BF1-F0E99953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59" y="5385816"/>
            <a:ext cx="16459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20" b="1">
                <a:solidFill>
                  <a:srgbClr val="009664"/>
                </a:solidFill>
                <a:latin typeface="Aptos"/>
                <a:ea typeface="Aptos"/>
                <a:cs typeface="Aptos"/>
              </a:rPr>
              <a:t>✓</a:t>
            </a:r>
            <a:endParaRPr sz="1220" b="1">
              <a:solidFill>
                <a:srgbClr val="00966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5" name="TextBox 46">
            <a:extLst xmlns:a="http://schemas.openxmlformats.org/drawingml/2006/main">
              <a:ext uri="{FF2B5EF4-FFF2-40B4-BE49-F238E27FC236}">
                <a16:creationId xmlns:a16="http://schemas.microsoft.com/office/drawing/2014/main" id="{C2B2EBFE-096A-496E-AAAD-0CD07A34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59" y="5385816"/>
            <a:ext cx="2377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20" b="0">
                <a:solidFill>
                  <a:srgbClr val="172030"/>
                </a:solidFill>
                <a:latin typeface="Aptos"/>
                <a:ea typeface="Aptos"/>
                <a:cs typeface="Aptos"/>
              </a:rPr>
              <a:t>Encrypted peers</a:t>
            </a:r>
            <a:endParaRPr sz="1020" b="0">
              <a:solidFill>
                <a:srgbClr val="1720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6" name="TextBox 47">
            <a:extLst xmlns:a="http://schemas.openxmlformats.org/drawingml/2006/main">
              <a:ext uri="{FF2B5EF4-FFF2-40B4-BE49-F238E27FC236}">
                <a16:creationId xmlns:a16="http://schemas.microsoft.com/office/drawing/2014/main" id="{F923EED3-112A-4EAB-9625-87C63A80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79" y="5394959"/>
            <a:ext cx="2148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70" b="0">
                <a:solidFill>
                  <a:srgbClr val="637081"/>
                </a:solidFill>
                <a:latin typeface="Aptos"/>
                <a:ea typeface="Aptos"/>
                <a:cs typeface="Aptos"/>
              </a:rPr>
              <a:t>ECDH / SAS / AES-GCM session</a:t>
            </a:r>
            <a:endParaRPr sz="870" b="0">
              <a:solidFill>
                <a:srgbClr val="63708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7" name="TextBox 48">
            <a:extLst xmlns:a="http://schemas.openxmlformats.org/drawingml/2006/main">
              <a:ext uri="{FF2B5EF4-FFF2-40B4-BE49-F238E27FC236}">
                <a16:creationId xmlns:a16="http://schemas.microsoft.com/office/drawing/2014/main" id="{28CB8A17-4992-4157-A79B-B1951175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5385816"/>
            <a:ext cx="16459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20" b="1">
                <a:solidFill>
                  <a:srgbClr val="009664"/>
                </a:solidFill>
                <a:latin typeface="Aptos"/>
                <a:ea typeface="Aptos"/>
                <a:cs typeface="Aptos"/>
              </a:rPr>
              <a:t>✓</a:t>
            </a:r>
            <a:endParaRPr sz="1220" b="1">
              <a:solidFill>
                <a:srgbClr val="00966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8" name="TextBox 49">
            <a:extLst xmlns:a="http://schemas.openxmlformats.org/drawingml/2006/main">
              <a:ext uri="{FF2B5EF4-FFF2-40B4-BE49-F238E27FC236}">
                <a16:creationId xmlns:a16="http://schemas.microsoft.com/office/drawing/2014/main" id="{D9BAD518-3D63-4011-9C33-370E88B1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385816"/>
            <a:ext cx="2377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20" b="0">
                <a:solidFill>
                  <a:srgbClr val="172030"/>
                </a:solidFill>
                <a:latin typeface="Aptos"/>
                <a:ea typeface="Aptos"/>
                <a:cs typeface="Aptos"/>
              </a:rPr>
              <a:t>Local history</a:t>
            </a:r>
            <a:endParaRPr sz="1020" b="0">
              <a:solidFill>
                <a:srgbClr val="1720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9" name="TextBox 50">
            <a:extLst xmlns:a="http://schemas.openxmlformats.org/drawingml/2006/main">
              <a:ext uri="{FF2B5EF4-FFF2-40B4-BE49-F238E27FC236}">
                <a16:creationId xmlns:a16="http://schemas.microsoft.com/office/drawing/2014/main" id="{73256D67-8570-43E1-914F-FBF6DAFC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394959"/>
            <a:ext cx="2148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70" b="0">
                <a:solidFill>
                  <a:srgbClr val="637081"/>
                </a:solidFill>
                <a:latin typeface="Aptos"/>
                <a:ea typeface="Aptos"/>
                <a:cs typeface="Aptos"/>
              </a:rPr>
              <a:t>Room / SQLCipher storage</a:t>
            </a:r>
            <a:endParaRPr sz="870" b="0">
              <a:solidFill>
                <a:srgbClr val="63708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0" name="Rounded Rectangle 59">
            <a:extLst xmlns:a="http://schemas.openxmlformats.org/drawingml/2006/main">
              <a:ext uri="{FF2B5EF4-FFF2-40B4-BE49-F238E27FC236}">
                <a16:creationId xmlns:a16="http://schemas.microsoft.com/office/drawing/2014/main" id="{F621947A-45E1-4B40-AA42-05A27DA9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989320"/>
            <a:ext cx="10515600" cy="320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 w="12700">
            <a:solidFill>
              <a:srgbClr val="C6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1" name="TextBox 52">
            <a:extLst xmlns:a="http://schemas.openxmlformats.org/drawingml/2006/main">
              <a:ext uri="{FF2B5EF4-FFF2-40B4-BE49-F238E27FC236}">
                <a16:creationId xmlns:a16="http://schemas.microsoft.com/office/drawing/2014/main" id="{8EF8E87B-6ACF-4E99-A34F-42B59217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6071616"/>
            <a:ext cx="10012680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0A2348"/>
                </a:solidFill>
                <a:latin typeface="Aptos"/>
                <a:ea typeface="Aptos"/>
                <a:cs typeface="Aptos"/>
              </a:rPr>
              <a:t>Demo flow: pair two Android devices -&gt; push to talk -&gt; encrypted text -&gt; local voice playback</a:t>
            </a:r>
            <a:endParaRPr sz="950" b="0">
              <a:solidFill>
                <a:srgbClr val="0A234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2" name="Connector 28">
            <a:extLst xmlns:a="http://schemas.openxmlformats.org/drawingml/2006/main">
              <a:ext uri="{FF2B5EF4-FFF2-40B4-BE49-F238E27FC236}">
                <a16:creationId xmlns:a16="http://schemas.microsoft.com/office/drawing/2014/main" id="{4E024218-A12A-4DA3-8D63-2E6FF6DC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13" y="2458720"/>
            <a:ext cx="411480" cy="0"/>
          </a:xfrm>
          <a:prstGeom xmlns:a="http://schemas.openxmlformats.org/drawingml/2006/main" prst="line">
            <a:avLst/>
          </a:prstGeom>
          <a:ln xmlns:a="http://schemas.openxmlformats.org/drawingml/2006/main" w="27940">
            <a:solidFill>
              <a:srgbClr val="0076D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BAD84120-0B8F-4F32-A74B-24DDC7AB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Git Bit</a:t>
            </a:r>
            <a:endParaRPr/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13592D73-70A5-4280-B5CF-BD36691D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97280"/>
            <a:ext cx="4937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637081"/>
                </a:solidFill>
                <a:latin typeface="Aptos"/>
                <a:ea typeface="Aptos"/>
                <a:cs typeface="Aptos"/>
              </a:rPr>
              <a:t>TECHNICAL APPROACH &amp; FEASIBILITY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72395E2C-47BA-467A-821B-51A4BBC9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3703320"/>
            <a:ext cx="219456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76D2"/>
                </a:solidFill>
                <a:latin typeface="Aptos"/>
                <a:ea typeface="Aptos"/>
                <a:cs typeface="Aptos"/>
              </a:rPr>
              <a:t>DESIGN CHOICES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3D368C31-12D4-4282-91F6-513848D2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3931920"/>
            <a:ext cx="2423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0076D2"/>
                </a:solidFill>
                <a:latin typeface="Aptos"/>
                <a:ea typeface="Aptos"/>
                <a:cs typeface="Aptos"/>
              </a:rPr>
              <a:t>Speech clarity</a:t>
            </a:r>
          </a:p>
          <a:p xmlns:a="http://schemas.openxmlformats.org/drawingml/2006/main">
            <a:pPr algn="l">
              <a:buNone/>
            </a:pPr>
            <a:r>
              <a:rPr sz="750" b="1">
                <a:solidFill>
                  <a:srgbClr val="0076D2"/>
                </a:solidFill>
                <a:latin typeface="Aptos"/>
                <a:ea typeface="Aptos"/>
                <a:cs typeface="Aptos"/>
              </a:rPr>
              <a:t>Pause detection creates speech segments. Dedicated language models handle recognition.</a:t>
            </a: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54F54C51-7508-496D-B1BC-ACB4B746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931920"/>
            <a:ext cx="2423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0076D2"/>
                </a:solidFill>
                <a:latin typeface="Aptos"/>
                <a:ea typeface="Aptos"/>
                <a:cs typeface="Aptos"/>
              </a:rPr>
              <a:t>Reliable delivery</a:t>
            </a:r>
          </a:p>
          <a:p xmlns:a="http://schemas.openxmlformats.org/drawingml/2006/main">
            <a:pPr algn="l">
              <a:buNone/>
            </a:pPr>
            <a:r>
              <a:rPr sz="750" b="1">
                <a:solidFill>
                  <a:srgbClr val="0076D2"/>
                </a:solidFill>
                <a:latin typeface="Aptos"/>
                <a:ea typeface="Aptos"/>
                <a:cs typeface="Aptos"/>
              </a:rPr>
              <a:t>Direct Bluetooth / Wi-Fi links use message acknowledgements and retry.</a:t>
            </a:r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B69D164B-0213-402E-BEB4-C8DC28A5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931920"/>
            <a:ext cx="2423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0076D2"/>
                </a:solidFill>
                <a:latin typeface="Aptos"/>
                <a:ea typeface="Aptos"/>
                <a:cs typeface="Aptos"/>
              </a:rPr>
              <a:t>Selective packs</a:t>
            </a:r>
          </a:p>
          <a:p xmlns:a="http://schemas.openxmlformats.org/drawingml/2006/main">
            <a:pPr algn="l">
              <a:buNone/>
            </a:pPr>
            <a:r>
              <a:rPr sz="750" b="1">
                <a:solidFill>
                  <a:srgbClr val="0076D2"/>
                </a:solidFill>
                <a:latin typeface="Aptos"/>
                <a:ea typeface="Aptos"/>
                <a:cs typeface="Aptos"/>
              </a:rPr>
              <a:t>Download the chosen language pack; speech model weights are managed separately from the APK.</a:t>
            </a: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DAF0D289-60CC-43A7-BA67-02CBFD08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931920"/>
            <a:ext cx="2423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0076D2"/>
                </a:solidFill>
                <a:latin typeface="Aptos"/>
                <a:ea typeface="Aptos"/>
                <a:cs typeface="Aptos"/>
              </a:rPr>
              <a:t>Resource control</a:t>
            </a:r>
          </a:p>
          <a:p xmlns:a="http://schemas.openxmlformats.org/drawingml/2006/main">
            <a:pPr algn="l">
              <a:buNone/>
            </a:pPr>
            <a:r>
              <a:rPr sz="750" b="1">
                <a:solidFill>
                  <a:srgbClr val="0076D2"/>
                </a:solidFill>
                <a:latin typeface="Aptos"/>
                <a:ea typeface="Aptos"/>
                <a:cs typeface="Aptos"/>
              </a:rPr>
              <a:t>VAD gates speech processing. Diagnostics expose timing and runtime counters.</a:t>
            </a:r>
          </a:p>
        </p:txBody>
      </p:sp>
    </p:spTree>
    <p:extLst>
      <p:ext uri="{BB962C8B-B14F-4D97-AF65-F5344CB8AC3E}">
        <p14:creationId xmlns:p14="http://schemas.microsoft.com/office/powerpoint/2010/main" val="8133584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8DDC2752-5130-4DD5-B6C0-0F77FB75D1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-59055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2026</a:t>
            </a:r>
            <a:endParaRPr sz="2800" b="1" i="1" u="sng">
              <a:latin typeface="ROG Fonts"/>
              <a:ea typeface="ROG Fonts"/>
              <a:cs typeface="ROG Fonts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99BFF2C-E110-4D10-829F-77D5F7AE30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0E07D4BA-98E6-4EF2-A055-5BA7FEF46C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17415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545e9bf1549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78533" y="-18723"/>
            <a:ext cx="1819192" cy="858988"/>
          </a:xfrm>
          <a:prstGeom xmlns:a="http://schemas.openxmlformats.org/drawingml/2006/main" prst="rect">
            <a:avLst/>
          </a:prstGeom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31E64D3-2C54-46D1-96D8-A1EAD508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953" y="6291707"/>
            <a:ext cx="38404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MEASURED PROGRESS + DEMO PLAN</a:t>
            </a:r>
            <a:endParaRPr sz="100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" name="TextBox 2">
            <a:extLst xmlns:a="http://schemas.openxmlformats.org/drawingml/2006/main">
              <a:ext uri="{FF2B5EF4-FFF2-40B4-BE49-F238E27FC236}">
                <a16:creationId xmlns:a16="http://schemas.microsoft.com/office/drawing/2014/main" id="{13C36BC4-2255-4A2F-8406-CD173889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73" y="968756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MEASURED PROGRESS &amp; SUBMISSION PLAN</a:t>
            </a:r>
            <a:endParaRPr sz="260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7418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e891f848049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673352"/>
            <a:ext cx="4800600" cy="3310128"/>
          </a:xfrm>
          <a:prstGeom xmlns:a="http://schemas.openxmlformats.org/drawingml/2006/main" prst="rect">
            <a:avLst/>
          </a:prstGeom>
        </p:spPr>
      </p:pic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1550EC11-79DB-43FE-B722-261ADF01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73352"/>
            <a:ext cx="4800600" cy="3310128"/>
          </a:xfrm>
          <a:prstGeom xmlns:a="http://schemas.openxmlformats.org/drawingml/2006/main" prst="roundRect">
            <a:avLst>
              <a:gd name="adj" fmla="val 6000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D8E3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025E389B-3E45-49CD-A614-8ACF1D3A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883664"/>
            <a:ext cx="1938528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9">
            <a:extLst xmlns:a="http://schemas.openxmlformats.org/drawingml/2006/main">
              <a:ext uri="{FF2B5EF4-FFF2-40B4-BE49-F238E27FC236}">
                <a16:creationId xmlns:a16="http://schemas.microsoft.com/office/drawing/2014/main" id="{6107F9BD-5717-4CB1-AF1C-20244195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901952"/>
            <a:ext cx="18470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3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REMOTE / LOW-CONNECTIVITY FIELD</a:t>
            </a:r>
            <a:endParaRPr sz="83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7" name="TextBox 10">
            <a:extLst xmlns:a="http://schemas.openxmlformats.org/drawingml/2006/main">
              <a:ext uri="{FF2B5EF4-FFF2-40B4-BE49-F238E27FC236}">
                <a16:creationId xmlns:a16="http://schemas.microsoft.com/office/drawing/2014/main" id="{F9614B8A-7C7B-401C-9869-A96D0054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19072"/>
            <a:ext cx="1234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10 LANGUAGES</a:t>
            </a:r>
            <a:endParaRPr sz="120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8" name="TextBox 11">
            <a:extLst xmlns:a="http://schemas.openxmlformats.org/drawingml/2006/main">
              <a:ext uri="{FF2B5EF4-FFF2-40B4-BE49-F238E27FC236}">
                <a16:creationId xmlns:a16="http://schemas.microsoft.com/office/drawing/2014/main" id="{222138E4-19EC-4FB8-9AD4-3C27E7A3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664208"/>
            <a:ext cx="4114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i="0">
                <a:solidFill>
                  <a:srgbClr val="9FB4C5"/>
                </a:solidFill>
                <a:latin typeface="Inter"/>
                <a:ea typeface="Inter"/>
                <a:cs typeface="Inter"/>
              </a:rPr>
              <a:t>→</a:t>
            </a:r>
            <a:endParaRPr sz="2000" b="1" i="0">
              <a:solidFill>
                <a:srgbClr val="9FB4C5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9" name="TextBox 12">
            <a:extLst xmlns:a="http://schemas.openxmlformats.org/drawingml/2006/main">
              <a:ext uri="{FF2B5EF4-FFF2-40B4-BE49-F238E27FC236}">
                <a16:creationId xmlns:a16="http://schemas.microsoft.com/office/drawing/2014/main" id="{5A1B0E0F-C7A6-4ABB-906C-1BCC601C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719072"/>
            <a:ext cx="14173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F36F21"/>
                </a:solidFill>
                <a:latin typeface="Inter"/>
                <a:ea typeface="Inter"/>
                <a:cs typeface="Inter"/>
              </a:rPr>
              <a:t>454 TESTS</a:t>
            </a:r>
            <a:endParaRPr sz="1200" b="1" i="0">
              <a:solidFill>
                <a:srgbClr val="F36F2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0" name="TextBox 13">
            <a:extLst xmlns:a="http://schemas.openxmlformats.org/drawingml/2006/main">
              <a:ext uri="{FF2B5EF4-FFF2-40B4-BE49-F238E27FC236}">
                <a16:creationId xmlns:a16="http://schemas.microsoft.com/office/drawing/2014/main" id="{6FE6D717-8188-4D7A-9FE6-E07D7A78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1664208"/>
            <a:ext cx="4114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i="0">
                <a:solidFill>
                  <a:srgbClr val="9FB4C5"/>
                </a:solidFill>
                <a:latin typeface="Inter"/>
                <a:ea typeface="Inter"/>
                <a:cs typeface="Inter"/>
              </a:rPr>
              <a:t>→</a:t>
            </a:r>
            <a:endParaRPr sz="2000" b="1" i="0">
              <a:solidFill>
                <a:srgbClr val="9FB4C5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1" name="TextBox 14">
            <a:extLst xmlns:a="http://schemas.openxmlformats.org/drawingml/2006/main">
              <a:ext uri="{FF2B5EF4-FFF2-40B4-BE49-F238E27FC236}">
                <a16:creationId xmlns:a16="http://schemas.microsoft.com/office/drawing/2014/main" id="{FA7F32C6-8C6B-42D0-AAD3-4ADDD344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1719072"/>
            <a:ext cx="15544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16A085"/>
                </a:solidFill>
                <a:latin typeface="Inter"/>
                <a:ea typeface="Inter"/>
                <a:cs typeface="Inter"/>
              </a:rPr>
              <a:t>LOCAL AI</a:t>
            </a:r>
            <a:endParaRPr sz="1200" b="1" i="0">
              <a:solidFill>
                <a:srgbClr val="16A085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2" name="TextBox 15">
            <a:extLst xmlns:a="http://schemas.openxmlformats.org/drawingml/2006/main">
              <a:ext uri="{FF2B5EF4-FFF2-40B4-BE49-F238E27FC236}">
                <a16:creationId xmlns:a16="http://schemas.microsoft.com/office/drawing/2014/main" id="{87E76336-95E1-455D-A0B2-F97AFE50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121408"/>
            <a:ext cx="523036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454 unit tests passed. Benchmarks cover ten languages; the Tamil GPU baseline provides the next training reference.</a:t>
            </a:r>
            <a:endParaRPr sz="160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3" name="TextBox 16">
            <a:extLst xmlns:a="http://schemas.openxmlformats.org/drawingml/2006/main">
              <a:ext uri="{FF2B5EF4-FFF2-40B4-BE49-F238E27FC236}">
                <a16:creationId xmlns:a16="http://schemas.microsoft.com/office/drawing/2014/main" id="{DF4ED3F6-949E-4201-A845-090C6618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74320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MEASURED RESULTS</a:t>
            </a:r>
            <a:endParaRPr sz="100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72482D6C-28C9-456D-A5FA-93915F1F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3099816"/>
            <a:ext cx="1481328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12700">
            <a:solidFill>
              <a:srgbClr val="DF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18">
            <a:extLst xmlns:a="http://schemas.openxmlformats.org/drawingml/2006/main">
              <a:ext uri="{FF2B5EF4-FFF2-40B4-BE49-F238E27FC236}">
                <a16:creationId xmlns:a16="http://schemas.microsoft.com/office/drawing/2014/main" id="{8DC2DDBF-AC7F-44EA-B38F-39D72DA1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118104"/>
            <a:ext cx="1389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4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Hindi WER 9.1%</a:t>
            </a:r>
            <a:endParaRPr sz="84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B788CBEE-CE74-4730-8211-619DCD13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383" y="3099816"/>
            <a:ext cx="1481328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12700">
            <a:solidFill>
              <a:srgbClr val="DF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0">
            <a:extLst xmlns:a="http://schemas.openxmlformats.org/drawingml/2006/main">
              <a:ext uri="{FF2B5EF4-FFF2-40B4-BE49-F238E27FC236}">
                <a16:creationId xmlns:a16="http://schemas.microsoft.com/office/drawing/2014/main" id="{8A35A98D-D91E-4C0E-B789-C51E90C0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0104" y="3118104"/>
            <a:ext cx="1389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4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English WER 6.9%</a:t>
            </a:r>
            <a:endParaRPr sz="84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BBC161B2-8A93-415A-8AC4-88134DB8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3099816"/>
            <a:ext cx="1517904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12700">
            <a:solidFill>
              <a:srgbClr val="DF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2">
            <a:extLst xmlns:a="http://schemas.openxmlformats.org/drawingml/2006/main">
              <a:ext uri="{FF2B5EF4-FFF2-40B4-BE49-F238E27FC236}">
                <a16:creationId xmlns:a16="http://schemas.microsoft.com/office/drawing/2014/main" id="{ACC0C00F-5792-4F05-8434-E775C8D1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3118104"/>
            <a:ext cx="1426463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4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Tamil CTC WER 20.05%</a:t>
            </a:r>
            <a:endParaRPr sz="84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EF57BEAE-4118-444D-B35A-59D1570A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3575304"/>
            <a:ext cx="1481328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12700">
            <a:solidFill>
              <a:srgbClr val="DF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24">
            <a:extLst xmlns:a="http://schemas.openxmlformats.org/drawingml/2006/main">
              <a:ext uri="{FF2B5EF4-FFF2-40B4-BE49-F238E27FC236}">
                <a16:creationId xmlns:a16="http://schemas.microsoft.com/office/drawing/2014/main" id="{EF3C258F-EA51-46DD-9E39-925CC6CD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593592"/>
            <a:ext cx="1389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4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Tamil RNNT WER 18.53%</a:t>
            </a:r>
            <a:endParaRPr sz="84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4528FC9A-8FAD-4C8E-A170-25EB0618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383" y="3575304"/>
            <a:ext cx="1481328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12700">
            <a:solidFill>
              <a:srgbClr val="DF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26">
            <a:extLst xmlns:a="http://schemas.openxmlformats.org/drawingml/2006/main">
              <a:ext uri="{FF2B5EF4-FFF2-40B4-BE49-F238E27FC236}">
                <a16:creationId xmlns:a16="http://schemas.microsoft.com/office/drawing/2014/main" id="{9E3CD135-34B8-46E1-8579-C0074C0D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0104" y="3593592"/>
            <a:ext cx="1389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4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Marathi TTS 181 ms</a:t>
            </a:r>
            <a:endParaRPr sz="84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EB617DA9-057B-48B7-AF3C-9013F518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3575304"/>
            <a:ext cx="1517904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12700">
            <a:solidFill>
              <a:srgbClr val="DF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28">
            <a:extLst xmlns:a="http://schemas.openxmlformats.org/drawingml/2006/main">
              <a:ext uri="{FF2B5EF4-FFF2-40B4-BE49-F238E27FC236}">
                <a16:creationId xmlns:a16="http://schemas.microsoft.com/office/drawing/2014/main" id="{1143DB97-924C-468C-A00A-55135DC3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3593592"/>
            <a:ext cx="1426463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4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Tamil data overlap: 0</a:t>
            </a:r>
            <a:endParaRPr sz="84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5F367CD5-D243-43F1-9856-EC76390F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575" y="4288790"/>
            <a:ext cx="5212080" cy="6762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12700">
            <a:solidFill>
              <a:srgbClr val="D8E3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0">
            <a:extLst xmlns:a="http://schemas.openxmlformats.org/drawingml/2006/main">
              <a:ext uri="{FF2B5EF4-FFF2-40B4-BE49-F238E27FC236}">
                <a16:creationId xmlns:a16="http://schemas.microsoft.com/office/drawing/2014/main" id="{635430DA-607D-4F00-8EB5-15D29BF1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4288536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BENCHMARK CONTEXT</a:t>
            </a:r>
            <a:endParaRPr sz="90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8" name="TextBox 31">
            <a:extLst xmlns:a="http://schemas.openxmlformats.org/drawingml/2006/main">
              <a:ext uri="{FF2B5EF4-FFF2-40B4-BE49-F238E27FC236}">
                <a16:creationId xmlns:a16="http://schemas.microsoft.com/office/drawing/2014/main" id="{94EB104C-70F6-4B4F-A6A9-C1EC497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4507992"/>
            <a:ext cx="470001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Hindi/English: desktop WER. Tamil: source GPU WER. 30 clips per set. Marathi: desktop synthesis-only mean.</a:t>
            </a:r>
            <a:endParaRPr sz="105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56135069-E4F5-47C3-BFCB-C5606733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05450"/>
            <a:ext cx="10789920" cy="786384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2700">
            <a:solidFill>
              <a:srgbClr val="D8E7F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3">
            <a:extLst xmlns:a="http://schemas.openxmlformats.org/drawingml/2006/main">
              <a:ext uri="{FF2B5EF4-FFF2-40B4-BE49-F238E27FC236}">
                <a16:creationId xmlns:a16="http://schemas.microsoft.com/office/drawing/2014/main" id="{693AB106-8366-4866-94A8-C3421EBE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458968"/>
            <a:ext cx="12618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2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Accuracy 40%</a:t>
            </a:r>
            <a:endParaRPr sz="102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1" name="TextBox 34">
            <a:extLst xmlns:a="http://schemas.openxmlformats.org/drawingml/2006/main">
              <a:ext uri="{FF2B5EF4-FFF2-40B4-BE49-F238E27FC236}">
                <a16:creationId xmlns:a16="http://schemas.microsoft.com/office/drawing/2014/main" id="{D93B112F-C7C2-405F-B983-C78723E1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87568"/>
            <a:ext cx="16916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80" b="0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WER + speech quality</a:t>
            </a:r>
            <a:endParaRPr sz="880" b="0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2" name="TextBox 35">
            <a:extLst xmlns:a="http://schemas.openxmlformats.org/drawingml/2006/main">
              <a:ext uri="{FF2B5EF4-FFF2-40B4-BE49-F238E27FC236}">
                <a16:creationId xmlns:a16="http://schemas.microsoft.com/office/drawing/2014/main" id="{1CBAC427-10C2-4DB7-BA86-7D9DC512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5458968"/>
            <a:ext cx="12618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2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Efficiency 20%</a:t>
            </a:r>
            <a:endParaRPr sz="102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3" name="TextBox 36">
            <a:extLst xmlns:a="http://schemas.openxmlformats.org/drawingml/2006/main">
              <a:ext uri="{FF2B5EF4-FFF2-40B4-BE49-F238E27FC236}">
                <a16:creationId xmlns:a16="http://schemas.microsoft.com/office/drawing/2014/main" id="{43AFC570-E6EE-4315-A68C-8EC2AE46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5687568"/>
            <a:ext cx="16916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80" b="0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APK / RAM / CPU</a:t>
            </a:r>
            <a:endParaRPr sz="880" b="0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4" name="TextBox 37">
            <a:extLst xmlns:a="http://schemas.openxmlformats.org/drawingml/2006/main">
              <a:ext uri="{FF2B5EF4-FFF2-40B4-BE49-F238E27FC236}">
                <a16:creationId xmlns:a16="http://schemas.microsoft.com/office/drawing/2014/main" id="{40A1B195-9866-4EA1-9657-D30BE771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5458968"/>
            <a:ext cx="12618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2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Latency 20%</a:t>
            </a:r>
            <a:endParaRPr sz="102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5" name="TextBox 38">
            <a:extLst xmlns:a="http://schemas.openxmlformats.org/drawingml/2006/main">
              <a:ext uri="{FF2B5EF4-FFF2-40B4-BE49-F238E27FC236}">
                <a16:creationId xmlns:a16="http://schemas.microsoft.com/office/drawing/2014/main" id="{C5D869DC-7322-47B1-A889-6FA42169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5687568"/>
            <a:ext cx="16916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80" b="0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Speech + delivery time</a:t>
            </a:r>
            <a:endParaRPr sz="880" b="0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6" name="TextBox 39">
            <a:extLst xmlns:a="http://schemas.openxmlformats.org/drawingml/2006/main">
              <a:ext uri="{FF2B5EF4-FFF2-40B4-BE49-F238E27FC236}">
                <a16:creationId xmlns:a16="http://schemas.microsoft.com/office/drawing/2014/main" id="{C2076179-0298-45A5-A5D5-CAAE673E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096" y="5458968"/>
            <a:ext cx="12618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2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Demo plan</a:t>
            </a:r>
            <a:endParaRPr sz="102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7" name="TextBox 40">
            <a:extLst xmlns:a="http://schemas.openxmlformats.org/drawingml/2006/main">
              <a:ext uri="{FF2B5EF4-FFF2-40B4-BE49-F238E27FC236}">
                <a16:creationId xmlns:a16="http://schemas.microsoft.com/office/drawing/2014/main" id="{7E6E3A4F-D903-4FDB-9F8A-8F017B67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096" y="5687568"/>
            <a:ext cx="16916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80" b="0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Two-device voice flow</a:t>
            </a:r>
            <a:endParaRPr sz="880" b="0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0" name="TextBox 43">
            <a:extLst xmlns:a="http://schemas.openxmlformats.org/drawingml/2006/main">
              <a:ext uri="{FF2B5EF4-FFF2-40B4-BE49-F238E27FC236}">
                <a16:creationId xmlns:a16="http://schemas.microsoft.com/office/drawing/2014/main" id="{936483F8-A323-4C83-B2C1-BA350D43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6248"/>
            <a:ext cx="640080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rgbClr val="7E8C99"/>
                </a:solidFill>
                <a:latin typeface="Inter"/>
                <a:ea typeface="Inter"/>
                <a:cs typeface="Inter"/>
              </a:rPr>
              <a:t>4/6</a:t>
            </a:r>
            <a:endParaRPr sz="800" b="0" i="0">
              <a:solidFill>
                <a:srgbClr val="7E8C99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24157B1-685B-4B8D-817B-5A290018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Git Bit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0411368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0732A56-47ED-4018-ACA5-30E3082554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1AB6B47E-E4B8-426C-BC73-A6BFFE9F0C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78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4124f4b0541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12400" y="41653"/>
            <a:ext cx="1793736" cy="846969"/>
          </a:xfrm>
          <a:prstGeom xmlns:a="http://schemas.openxmlformats.org/drawingml/2006/main" prst="rect">
            <a:avLst/>
          </a:prstGeom>
        </p:spPr>
      </p:pic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67E1C0E-7B44-4E3F-8C3C-A3946129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24460"/>
            <a:ext cx="8761095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2026</a:t>
            </a:r>
            <a:endParaRPr sz="2800" b="1" i="1" u="sng">
              <a:latin typeface="ROG Fonts"/>
              <a:ea typeface="ROG Fonts"/>
              <a:cs typeface="ROG Fonts"/>
            </a:endParaRP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D929314-A6FA-43A4-A9F7-3308C0A2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291707"/>
            <a:ext cx="38404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SYSTEM ARCHITECTURE</a:t>
            </a:r>
            <a:endParaRPr sz="100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" name="TextBox 2">
            <a:extLst xmlns:a="http://schemas.openxmlformats.org/drawingml/2006/main">
              <a:ext uri="{FF2B5EF4-FFF2-40B4-BE49-F238E27FC236}">
                <a16:creationId xmlns:a16="http://schemas.microsoft.com/office/drawing/2014/main" id="{280BD932-0AAA-41D9-ABDF-29B9EDA2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894461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HOW iTANTRA WORKS — END TO END</a:t>
            </a:r>
            <a:endParaRPr sz="260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1B5C52B-EA80-4DDB-B8D2-A03C9AA4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1489075"/>
            <a:ext cx="438912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4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B8CBF44-02A1-4937-BBE3-999AFA3D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673" y="1489075"/>
            <a:ext cx="164592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6">
            <a:extLst xmlns:a="http://schemas.openxmlformats.org/drawingml/2006/main">
              <a:ext uri="{FF2B5EF4-FFF2-40B4-BE49-F238E27FC236}">
                <a16:creationId xmlns:a16="http://schemas.microsoft.com/office/drawing/2014/main" id="{2109893B-B229-49F1-B340-A499A41A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015" y="1627632"/>
            <a:ext cx="2103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CORE OFFLINE PIPELINE</a:t>
            </a:r>
            <a:endParaRPr sz="100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BCB88A18-6486-40B6-A296-79EAC675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06654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4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8">
            <a:extLst xmlns:a="http://schemas.openxmlformats.org/drawingml/2006/main">
              <a:ext uri="{FF2B5EF4-FFF2-40B4-BE49-F238E27FC236}">
                <a16:creationId xmlns:a16="http://schemas.microsoft.com/office/drawing/2014/main" id="{8D144CA8-CF8A-4D3A-B6F9-269AD0C3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85416"/>
            <a:ext cx="548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MIC</a:t>
            </a:r>
            <a:endParaRPr sz="1000" b="1" i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5" name="TextBox 9">
            <a:extLst xmlns:a="http://schemas.openxmlformats.org/drawingml/2006/main">
              <a:ext uri="{FF2B5EF4-FFF2-40B4-BE49-F238E27FC236}">
                <a16:creationId xmlns:a16="http://schemas.microsoft.com/office/drawing/2014/main" id="{5813E072-750D-4144-8113-FC74D37F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34640"/>
            <a:ext cx="100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6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Speech</a:t>
            </a:r>
            <a:endParaRPr sz="96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6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277A7156-A5B1-42A7-A039-E5F45BE1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184" y="2395728"/>
            <a:ext cx="9144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7CAD8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B9046DBD-BADC-4719-9C27-BFB67433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584" y="206654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4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2">
            <a:extLst xmlns:a="http://schemas.openxmlformats.org/drawingml/2006/main">
              <a:ext uri="{FF2B5EF4-FFF2-40B4-BE49-F238E27FC236}">
                <a16:creationId xmlns:a16="http://schemas.microsoft.com/office/drawing/2014/main" id="{17EFC70D-A916-43F7-805D-A240A93F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185416"/>
            <a:ext cx="548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VAD</a:t>
            </a:r>
            <a:endParaRPr sz="1000" b="1" i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0" name="TextBox 13">
            <a:extLst xmlns:a="http://schemas.openxmlformats.org/drawingml/2006/main">
              <a:ext uri="{FF2B5EF4-FFF2-40B4-BE49-F238E27FC236}">
                <a16:creationId xmlns:a16="http://schemas.microsoft.com/office/drawing/2014/main" id="{173F6378-CD54-4E8A-8C88-487425EB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848" y="2834640"/>
            <a:ext cx="100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6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Pause / stop
detection</a:t>
            </a:r>
            <a:endParaRPr sz="96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1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5DE0BD1C-8B1D-4CC5-A685-BC8548CA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2395728"/>
            <a:ext cx="9144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7CAD8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B4536854-F740-4FAE-8A0E-E808932E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1" y="206654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4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16">
            <a:extLst xmlns:a="http://schemas.openxmlformats.org/drawingml/2006/main">
              <a:ext uri="{FF2B5EF4-FFF2-40B4-BE49-F238E27FC236}">
                <a16:creationId xmlns:a16="http://schemas.microsoft.com/office/drawing/2014/main" id="{0277604C-0D3E-4E97-92F9-44C8F663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215" y="2185416"/>
            <a:ext cx="548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STT</a:t>
            </a:r>
            <a:endParaRPr sz="1000" b="1" i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4" name="TextBox 17">
            <a:extLst xmlns:a="http://schemas.openxmlformats.org/drawingml/2006/main">
              <a:ext uri="{FF2B5EF4-FFF2-40B4-BE49-F238E27FC236}">
                <a16:creationId xmlns:a16="http://schemas.microsoft.com/office/drawing/2014/main" id="{DCB00339-0FE9-4E3A-B7A2-9308099A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5" y="2834640"/>
            <a:ext cx="100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6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Selected</a:t>
            </a:r>
            <a:endParaRPr sz="96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algn="ctr">
              <a:buNone/>
            </a:pPr>
            <a:r>
              <a:rPr sz="96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STT pack</a:t>
            </a:r>
            <a:endParaRPr sz="96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5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BCF38E28-E047-406A-847F-8AC8E6C6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395728"/>
            <a:ext cx="9144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7CAD8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466D3C5B-7918-4C93-9DCB-A43CA1DF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06654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0">
            <a:extLst xmlns:a="http://schemas.openxmlformats.org/drawingml/2006/main">
              <a:ext uri="{FF2B5EF4-FFF2-40B4-BE49-F238E27FC236}">
                <a16:creationId xmlns:a16="http://schemas.microsoft.com/office/drawing/2014/main" id="{B6B15BE4-C58F-403A-AB1D-CD5B6358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984" y="2185416"/>
            <a:ext cx="548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TXT</a:t>
            </a:r>
            <a:endParaRPr sz="1000" b="1" i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8" name="TextBox 21">
            <a:extLst xmlns:a="http://schemas.openxmlformats.org/drawingml/2006/main">
              <a:ext uri="{FF2B5EF4-FFF2-40B4-BE49-F238E27FC236}">
                <a16:creationId xmlns:a16="http://schemas.microsoft.com/office/drawing/2014/main" id="{084437A0-E274-4989-9D5F-9655A402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2834640"/>
            <a:ext cx="100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6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Compact
packet</a:t>
            </a:r>
            <a:endParaRPr sz="96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9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387960FD-A0F5-4279-8224-EADB8B38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395728"/>
            <a:ext cx="9144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7CAD8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Oval 29">
            <a:extLst xmlns:a="http://schemas.openxmlformats.org/drawingml/2006/main">
              <a:ext uri="{FF2B5EF4-FFF2-40B4-BE49-F238E27FC236}">
                <a16:creationId xmlns:a16="http://schemas.microsoft.com/office/drawing/2014/main" id="{0BEE911F-45B1-452C-9B2B-543E6F1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4888" y="206654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24">
            <a:extLst xmlns:a="http://schemas.openxmlformats.org/drawingml/2006/main">
              <a:ext uri="{FF2B5EF4-FFF2-40B4-BE49-F238E27FC236}">
                <a16:creationId xmlns:a16="http://schemas.microsoft.com/office/drawing/2014/main" id="{D9B6AE8F-28FC-4399-85A7-415C0955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2185416"/>
            <a:ext cx="548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P2P</a:t>
            </a:r>
            <a:endParaRPr sz="1000" b="1" i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2" name="TextBox 25">
            <a:extLst xmlns:a="http://schemas.openxmlformats.org/drawingml/2006/main">
              <a:ext uri="{FF2B5EF4-FFF2-40B4-BE49-F238E27FC236}">
                <a16:creationId xmlns:a16="http://schemas.microsoft.com/office/drawing/2014/main" id="{300F5E52-9418-4974-B97B-9557EC24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2834640"/>
            <a:ext cx="100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6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Bluetooth /
Wi‑Fi Direct</a:t>
            </a:r>
            <a:endParaRPr sz="96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3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3223243E-298A-47AD-8649-83F69E54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256" y="2395728"/>
            <a:ext cx="9144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7CAD8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Oval 33">
            <a:extLst xmlns:a="http://schemas.openxmlformats.org/drawingml/2006/main">
              <a:ext uri="{FF2B5EF4-FFF2-40B4-BE49-F238E27FC236}">
                <a16:creationId xmlns:a16="http://schemas.microsoft.com/office/drawing/2014/main" id="{C1C2EF7E-9113-426B-973C-53E61BAE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656" y="206654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4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28">
            <a:extLst xmlns:a="http://schemas.openxmlformats.org/drawingml/2006/main">
              <a:ext uri="{FF2B5EF4-FFF2-40B4-BE49-F238E27FC236}">
                <a16:creationId xmlns:a16="http://schemas.microsoft.com/office/drawing/2014/main" id="{9CD7AF2F-A1C6-429B-A31F-A2BE014A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185416"/>
            <a:ext cx="548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TTS</a:t>
            </a:r>
            <a:endParaRPr sz="1000" b="1" i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6" name="TextBox 29">
            <a:extLst xmlns:a="http://schemas.openxmlformats.org/drawingml/2006/main">
              <a:ext uri="{FF2B5EF4-FFF2-40B4-BE49-F238E27FC236}">
                <a16:creationId xmlns:a16="http://schemas.microsoft.com/office/drawing/2014/main" id="{335DA83C-04F6-4776-9DCC-16E71C06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834640"/>
            <a:ext cx="100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6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Selected</a:t>
            </a:r>
            <a:endParaRPr sz="96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algn="ctr">
              <a:buNone/>
            </a:pPr>
            <a:r>
              <a:rPr sz="96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TTS voice</a:t>
            </a:r>
            <a:endParaRPr sz="96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7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DDA1F0D6-5604-4E13-90E1-51AB6840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2395728"/>
            <a:ext cx="9144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7CAD8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47C680DB-8DB2-4FA1-B94A-95DDD92F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424" y="206654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4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2">
            <a:extLst xmlns:a="http://schemas.openxmlformats.org/drawingml/2006/main">
              <a:ext uri="{FF2B5EF4-FFF2-40B4-BE49-F238E27FC236}">
                <a16:creationId xmlns:a16="http://schemas.microsoft.com/office/drawing/2014/main" id="{CF5D5D03-8CD2-4D3E-8D82-650F572D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2185416"/>
            <a:ext cx="548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SPK</a:t>
            </a:r>
            <a:endParaRPr sz="1000" b="1" i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0" name="TextBox 33">
            <a:extLst xmlns:a="http://schemas.openxmlformats.org/drawingml/2006/main">
              <a:ext uri="{FF2B5EF4-FFF2-40B4-BE49-F238E27FC236}">
                <a16:creationId xmlns:a16="http://schemas.microsoft.com/office/drawing/2014/main" id="{59CA7EC6-5E67-4F57-9044-0DD62B92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688" y="2834640"/>
            <a:ext cx="100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6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Voice out</a:t>
            </a:r>
            <a:endParaRPr sz="96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1" name="TextBox 34">
            <a:extLst xmlns:a="http://schemas.openxmlformats.org/drawingml/2006/main">
              <a:ext uri="{FF2B5EF4-FFF2-40B4-BE49-F238E27FC236}">
                <a16:creationId xmlns:a16="http://schemas.microsoft.com/office/drawing/2014/main" id="{C9BCC99A-F7D5-4B55-8BF7-9CFBFF04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657600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OPERATING MODES</a:t>
            </a:r>
            <a:endParaRPr sz="100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4042B353-15F4-4F2A-B999-76DC7D68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005072"/>
            <a:ext cx="2834640" cy="74980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2700">
            <a:solidFill>
              <a:srgbClr val="D8E3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36">
            <a:extLst xmlns:a="http://schemas.openxmlformats.org/drawingml/2006/main">
              <a:ext uri="{FF2B5EF4-FFF2-40B4-BE49-F238E27FC236}">
                <a16:creationId xmlns:a16="http://schemas.microsoft.com/office/drawing/2014/main" id="{990268B3-82E2-4A5C-AB0F-9A78CFEF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14223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PTT ON</a:t>
            </a:r>
            <a:endParaRPr sz="100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4" name="TextBox 37">
            <a:extLst xmlns:a="http://schemas.openxmlformats.org/drawingml/2006/main">
              <a:ext uri="{FF2B5EF4-FFF2-40B4-BE49-F238E27FC236}">
                <a16:creationId xmlns:a16="http://schemas.microsoft.com/office/drawing/2014/main" id="{861CB892-48BD-413E-A19F-B4FE8FD5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4078224"/>
            <a:ext cx="17190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Walkie‑talkie style push-to-talk</a:t>
            </a:r>
            <a:endParaRPr sz="105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5" name="Rounded Rectangle 44">
            <a:extLst xmlns:a="http://schemas.openxmlformats.org/drawingml/2006/main">
              <a:ext uri="{FF2B5EF4-FFF2-40B4-BE49-F238E27FC236}">
                <a16:creationId xmlns:a16="http://schemas.microsoft.com/office/drawing/2014/main" id="{6168E836-FDF2-4CAA-94AB-8C983A32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4005072"/>
            <a:ext cx="2907792" cy="74980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2700">
            <a:solidFill>
              <a:srgbClr val="D8E3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Box 39">
            <a:extLst xmlns:a="http://schemas.openxmlformats.org/drawingml/2006/main">
              <a:ext uri="{FF2B5EF4-FFF2-40B4-BE49-F238E27FC236}">
                <a16:creationId xmlns:a16="http://schemas.microsoft.com/office/drawing/2014/main" id="{436629AA-3434-4210-A502-C10E4E79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1" y="41422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16A085"/>
                </a:solidFill>
                <a:latin typeface="Inter"/>
                <a:ea typeface="Inter"/>
                <a:cs typeface="Inter"/>
              </a:rPr>
              <a:t>PTT OFF</a:t>
            </a:r>
            <a:endParaRPr sz="1000" b="1" i="0">
              <a:solidFill>
                <a:srgbClr val="16A085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7" name="TextBox 40">
            <a:extLst xmlns:a="http://schemas.openxmlformats.org/drawingml/2006/main">
              <a:ext uri="{FF2B5EF4-FFF2-40B4-BE49-F238E27FC236}">
                <a16:creationId xmlns:a16="http://schemas.microsoft.com/office/drawing/2014/main" id="{2D15E8F9-D965-4F99-B0A9-D6909D84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078224"/>
            <a:ext cx="1737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Speech segments after pauses</a:t>
            </a:r>
            <a:endParaRPr sz="105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8" name="Rounded Rectangle 47">
            <a:extLst xmlns:a="http://schemas.openxmlformats.org/drawingml/2006/main">
              <a:ext uri="{FF2B5EF4-FFF2-40B4-BE49-F238E27FC236}">
                <a16:creationId xmlns:a16="http://schemas.microsoft.com/office/drawing/2014/main" id="{AE64C720-BA11-4D52-8434-D9A37AB7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4005072"/>
            <a:ext cx="2560320" cy="74980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2700">
            <a:solidFill>
              <a:srgbClr val="F1D7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2">
            <a:extLst xmlns:a="http://schemas.openxmlformats.org/drawingml/2006/main">
              <a:ext uri="{FF2B5EF4-FFF2-40B4-BE49-F238E27FC236}">
                <a16:creationId xmlns:a16="http://schemas.microsoft.com/office/drawing/2014/main" id="{4C196BD9-D43E-4DCE-A4F7-5F6A4B3E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142232"/>
            <a:ext cx="640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F36F21"/>
                </a:solidFill>
                <a:latin typeface="Inter"/>
                <a:ea typeface="Inter"/>
                <a:cs typeface="Inter"/>
              </a:rPr>
              <a:t>ALERT</a:t>
            </a:r>
            <a:endParaRPr sz="1000" b="1" i="0">
              <a:solidFill>
                <a:srgbClr val="F36F2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0" name="TextBox 43">
            <a:extLst xmlns:a="http://schemas.openxmlformats.org/drawingml/2006/main">
              <a:ext uri="{FF2B5EF4-FFF2-40B4-BE49-F238E27FC236}">
                <a16:creationId xmlns:a16="http://schemas.microsoft.com/office/drawing/2014/main" id="{268A47AC-9429-4F6D-A56F-B8C11C71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936" y="4078224"/>
            <a:ext cx="157276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Priority alert playback</a:t>
            </a:r>
            <a:endParaRPr sz="105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1" name="Rounded Rectangle 50">
            <a:extLst xmlns:a="http://schemas.openxmlformats.org/drawingml/2006/main">
              <a:ext uri="{FF2B5EF4-FFF2-40B4-BE49-F238E27FC236}">
                <a16:creationId xmlns:a16="http://schemas.microsoft.com/office/drawing/2014/main" id="{A7EF2500-24F6-4D2C-83AC-73488B71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4005072"/>
            <a:ext cx="2011680" cy="74980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0F7F5"/>
          </a:solidFill>
          <a:ln xmlns:a="http://schemas.openxmlformats.org/drawingml/2006/main" w="12700">
            <a:solidFill>
              <a:srgbClr val="CEE2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45">
            <a:extLst xmlns:a="http://schemas.openxmlformats.org/drawingml/2006/main">
              <a:ext uri="{FF2B5EF4-FFF2-40B4-BE49-F238E27FC236}">
                <a16:creationId xmlns:a16="http://schemas.microsoft.com/office/drawing/2014/main" id="{B42F45CC-A0ED-4FC6-B881-8E866D75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344" y="4105656"/>
            <a:ext cx="1691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20" b="1" i="0">
                <a:solidFill>
                  <a:srgbClr val="16A085"/>
                </a:solidFill>
                <a:latin typeface="Inter"/>
                <a:ea typeface="Inter"/>
                <a:cs typeface="Inter"/>
              </a:rPr>
              <a:t>SECURE SESSION</a:t>
            </a:r>
            <a:endParaRPr sz="920" b="1" i="0">
              <a:solidFill>
                <a:srgbClr val="16A085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3" name="TextBox 46">
            <a:extLst xmlns:a="http://schemas.openxmlformats.org/drawingml/2006/main">
              <a:ext uri="{FF2B5EF4-FFF2-40B4-BE49-F238E27FC236}">
                <a16:creationId xmlns:a16="http://schemas.microsoft.com/office/drawing/2014/main" id="{6131F2A8-F2E2-4EDF-8361-3B58FEF3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352544"/>
            <a:ext cx="17007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ECDH • SAS • AES‑GCM</a:t>
            </a:r>
            <a:endParaRPr sz="85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4" name="TextBox 47">
            <a:extLst xmlns:a="http://schemas.openxmlformats.org/drawingml/2006/main">
              <a:ext uri="{FF2B5EF4-FFF2-40B4-BE49-F238E27FC236}">
                <a16:creationId xmlns:a16="http://schemas.microsoft.com/office/drawing/2014/main" id="{6C3BDC11-3DA6-4CD1-9437-DDED1FBD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02352"/>
            <a:ext cx="2971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F36F21"/>
                </a:solidFill>
                <a:latin typeface="Inter"/>
                <a:ea typeface="Inter"/>
                <a:cs typeface="Inter"/>
              </a:rPr>
              <a:t>FINAL DEMO DELIVERY PLAN</a:t>
            </a:r>
            <a:endParaRPr sz="1000" b="1" i="0">
              <a:solidFill>
                <a:srgbClr val="F36F2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5" name="Rounded Rectangle 54">
            <a:extLst xmlns:a="http://schemas.openxmlformats.org/drawingml/2006/main">
              <a:ext uri="{FF2B5EF4-FFF2-40B4-BE49-F238E27FC236}">
                <a16:creationId xmlns:a16="http://schemas.microsoft.com/office/drawing/2014/main" id="{852ECDCA-53D4-4855-819F-58865857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31536"/>
            <a:ext cx="10789920" cy="67665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9F3"/>
          </a:solidFill>
          <a:ln xmlns:a="http://schemas.openxmlformats.org/drawingml/2006/main" w="12700">
            <a:solidFill>
              <a:srgbClr val="F2D7C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Rounded Rectangle 55">
            <a:extLst xmlns:a="http://schemas.openxmlformats.org/drawingml/2006/main">
              <a:ext uri="{FF2B5EF4-FFF2-40B4-BE49-F238E27FC236}">
                <a16:creationId xmlns:a16="http://schemas.microsoft.com/office/drawing/2014/main" id="{13B12CDC-69B5-4172-BB1A-03FCC0E5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605272"/>
            <a:ext cx="1280160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CB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TextBox 50">
            <a:extLst xmlns:a="http://schemas.openxmlformats.org/drawingml/2006/main">
              <a:ext uri="{FF2B5EF4-FFF2-40B4-BE49-F238E27FC236}">
                <a16:creationId xmlns:a16="http://schemas.microsoft.com/office/drawing/2014/main" id="{ED2083FF-ADE8-4D3A-9758-0232CEC5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623559"/>
            <a:ext cx="118871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3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Tamil tuning</a:t>
            </a:r>
            <a:endParaRPr sz="83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8" name="Rounded Rectangle 57">
            <a:extLst xmlns:a="http://schemas.openxmlformats.org/drawingml/2006/main">
              <a:ext uri="{FF2B5EF4-FFF2-40B4-BE49-F238E27FC236}">
                <a16:creationId xmlns:a16="http://schemas.microsoft.com/office/drawing/2014/main" id="{1D08C94F-0308-474F-AFD9-8D1D2453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5605272"/>
            <a:ext cx="1600200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CB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9" name="TextBox 52">
            <a:extLst xmlns:a="http://schemas.openxmlformats.org/drawingml/2006/main">
              <a:ext uri="{FF2B5EF4-FFF2-40B4-BE49-F238E27FC236}">
                <a16:creationId xmlns:a16="http://schemas.microsoft.com/office/drawing/2014/main" id="{3855960B-6537-42C7-B69F-87F93FC7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5623559"/>
            <a:ext cx="1508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3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Train / dev selection</a:t>
            </a:r>
            <a:endParaRPr sz="83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0" name="Rounded Rectangle 59">
            <a:extLst xmlns:a="http://schemas.openxmlformats.org/drawingml/2006/main">
              <a:ext uri="{FF2B5EF4-FFF2-40B4-BE49-F238E27FC236}">
                <a16:creationId xmlns:a16="http://schemas.microsoft.com/office/drawing/2014/main" id="{0C1209C9-5569-496E-A5C3-AC002F82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5605272"/>
            <a:ext cx="1280160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CB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1" name="TextBox 54">
            <a:extLst xmlns:a="http://schemas.openxmlformats.org/drawingml/2006/main">
              <a:ext uri="{FF2B5EF4-FFF2-40B4-BE49-F238E27FC236}">
                <a16:creationId xmlns:a16="http://schemas.microsoft.com/office/drawing/2014/main" id="{C17C8C60-48EE-44EA-B808-A48EB851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5623559"/>
            <a:ext cx="118871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3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Locked WER tests</a:t>
            </a:r>
            <a:endParaRPr sz="83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2" name="Rounded Rectangle 61">
            <a:extLst xmlns:a="http://schemas.openxmlformats.org/drawingml/2006/main">
              <a:ext uri="{FF2B5EF4-FFF2-40B4-BE49-F238E27FC236}">
                <a16:creationId xmlns:a16="http://schemas.microsoft.com/office/drawing/2014/main" id="{F5B3531E-FF77-4933-805C-9AD8DEC8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5605272"/>
            <a:ext cx="1600200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CB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56">
            <a:extLst xmlns:a="http://schemas.openxmlformats.org/drawingml/2006/main">
              <a:ext uri="{FF2B5EF4-FFF2-40B4-BE49-F238E27FC236}">
                <a16:creationId xmlns:a16="http://schemas.microsoft.com/office/drawing/2014/main" id="{79ABF881-A894-49BA-958B-48F76B36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5623559"/>
            <a:ext cx="1508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3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ONNX / INT8 checks</a:t>
            </a:r>
            <a:endParaRPr sz="83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4" name="Rounded Rectangle 63">
            <a:extLst xmlns:a="http://schemas.openxmlformats.org/drawingml/2006/main">
              <a:ext uri="{FF2B5EF4-FFF2-40B4-BE49-F238E27FC236}">
                <a16:creationId xmlns:a16="http://schemas.microsoft.com/office/drawing/2014/main" id="{FF669776-7309-4E7C-9229-DD0E4574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5605272"/>
            <a:ext cx="1143000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CB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5" name="TextBox 58">
            <a:extLst xmlns:a="http://schemas.openxmlformats.org/drawingml/2006/main">
              <a:ext uri="{FF2B5EF4-FFF2-40B4-BE49-F238E27FC236}">
                <a16:creationId xmlns:a16="http://schemas.microsoft.com/office/drawing/2014/main" id="{B1140B38-9C13-4FC0-9EF7-BBCF7F76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623559"/>
            <a:ext cx="104775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3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Two-phone demo</a:t>
            </a:r>
            <a:endParaRPr sz="83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6" name="Connector 59">
            <a:extLst xmlns:a="http://schemas.openxmlformats.org/drawingml/2006/main">
              <a:ext uri="{FF2B5EF4-FFF2-40B4-BE49-F238E27FC236}">
                <a16:creationId xmlns:a16="http://schemas.microsoft.com/office/drawing/2014/main" id="{D48A5DA4-F4EB-4D8E-8888-6F034511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5760720"/>
            <a:ext cx="585216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F36F2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7" name="Connector 60">
            <a:extLst xmlns:a="http://schemas.openxmlformats.org/drawingml/2006/main">
              <a:ext uri="{FF2B5EF4-FFF2-40B4-BE49-F238E27FC236}">
                <a16:creationId xmlns:a16="http://schemas.microsoft.com/office/drawing/2014/main" id="{4697FBF3-6013-4F05-BFFA-5E2BC756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5760720"/>
            <a:ext cx="54864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F36F2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8" name="Connector 61">
            <a:extLst xmlns:a="http://schemas.openxmlformats.org/drawingml/2006/main">
              <a:ext uri="{FF2B5EF4-FFF2-40B4-BE49-F238E27FC236}">
                <a16:creationId xmlns:a16="http://schemas.microsoft.com/office/drawing/2014/main" id="{A945FF9F-1B78-4816-87A2-089863FB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5760720"/>
            <a:ext cx="521208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F36F2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9" name="Connector 62">
            <a:extLst xmlns:a="http://schemas.openxmlformats.org/drawingml/2006/main">
              <a:ext uri="{FF2B5EF4-FFF2-40B4-BE49-F238E27FC236}">
                <a16:creationId xmlns:a16="http://schemas.microsoft.com/office/drawing/2014/main" id="{7222F899-4F7D-4272-9F21-4685D941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760720"/>
            <a:ext cx="557784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F36F2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0" name="Rounded Rectangle 69">
            <a:extLst xmlns:a="http://schemas.openxmlformats.org/drawingml/2006/main">
              <a:ext uri="{FF2B5EF4-FFF2-40B4-BE49-F238E27FC236}">
                <a16:creationId xmlns:a16="http://schemas.microsoft.com/office/drawing/2014/main" id="{A137C00F-042D-4894-872F-29E32B4B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5605272"/>
            <a:ext cx="1097280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1" name="TextBox 64">
            <a:extLst xmlns:a="http://schemas.openxmlformats.org/drawingml/2006/main">
              <a:ext uri="{FF2B5EF4-FFF2-40B4-BE49-F238E27FC236}">
                <a16:creationId xmlns:a16="http://schemas.microsoft.com/office/drawing/2014/main" id="{72C51B06-D98E-4DA0-B363-CA9B3CAF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696" y="5623559"/>
            <a:ext cx="100583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60" b="1" i="0">
                <a:solidFill>
                  <a:srgbClr val="F36F21"/>
                </a:solidFill>
                <a:latin typeface="Inter"/>
                <a:ea typeface="Inter"/>
                <a:cs typeface="Inter"/>
              </a:rPr>
              <a:t>SIGNED RELEASE</a:t>
            </a:r>
            <a:endParaRPr sz="760" b="1" i="0">
              <a:solidFill>
                <a:srgbClr val="F36F2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4" name="TextBox 67">
            <a:extLst xmlns:a="http://schemas.openxmlformats.org/drawingml/2006/main">
              <a:ext uri="{FF2B5EF4-FFF2-40B4-BE49-F238E27FC236}">
                <a16:creationId xmlns:a16="http://schemas.microsoft.com/office/drawing/2014/main" id="{807EC353-B451-473D-B486-EA199A98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6248"/>
            <a:ext cx="640080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rgbClr val="7E8C99"/>
                </a:solidFill>
                <a:latin typeface="Inter"/>
                <a:ea typeface="Inter"/>
                <a:cs typeface="Inter"/>
              </a:rPr>
              <a:t>5/6</a:t>
            </a:r>
            <a:endParaRPr sz="800" b="0" i="0">
              <a:solidFill>
                <a:srgbClr val="7E8C99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AC3C7B8C-58FB-46DE-90BD-845B9D75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Git Bit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295416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5D18AF40-9DE6-4D24-8BC9-3056B214AC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18288"/>
            <a:ext cx="9144000" cy="6583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2026</a:t>
            </a:r>
            <a:endParaRPr sz="2800" b="1" i="1" u="sng">
              <a:latin typeface="ROG Fonts"/>
              <a:ea typeface="ROG Fonts"/>
              <a:cs typeface="ROG Fonts"/>
            </a:endParaRPr>
          </a:p>
        </p:txBody>
      </p:sp>
      <p:pic>
        <p:nvPicPr>
          <p:cNvPr id="17414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eb5209003042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C3F071D2-5089-462E-A42C-33EA70A4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Git Bit</a:t>
            </a:r>
            <a:endParaRPr/>
          </a:p>
        </p:txBody>
      </p:sp>
      <p:sp>
        <p:nvSpPr>
          <p:cNvPr id="17410" name="TextBox 17409">
            <a:extLst xmlns:a="http://schemas.openxmlformats.org/drawingml/2006/main">
              <a:ext uri="{FF2B5EF4-FFF2-40B4-BE49-F238E27FC236}">
                <a16:creationId xmlns:a16="http://schemas.microsoft.com/office/drawing/2014/main" id="{02FF8FD9-0D5A-4C2B-AE4E-1BE7B71C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234440"/>
            <a:ext cx="9372600" cy="4892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  <a:defRPr sz="1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Official problem SIH26173: sih.gov.in/sih2026PS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  <a:defRPr sz="1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Offline speech runtime: sherpa-onnx for Android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  <a:defRPr sz="1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STT: IndicConformer / English FastConformer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  <a:defRPr sz="1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TTS: MMS-VITS / Marathi Piper voice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  <a:defRPr sz="1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Speech benchmarks: FLEURS, 30 clips per language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  <a:defRPr sz="1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Tamil data: Kathbath, 4,428 train / 555 dev clips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  <a:defRPr sz="1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Validation design: speaker-separated splits + locked tests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  <a:defRPr sz="1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Delivery sequence: model tuning -&gt; demo -&gt; signed APK</a:t>
            </a:r>
          </a:p>
        </p:txBody>
      </p:sp>
      <p:sp>
        <p:nvSpPr>
          <p:cNvPr id="17411" name="TextBox 17410">
            <a:extLst xmlns:a="http://schemas.openxmlformats.org/drawingml/2006/main">
              <a:ext uri="{FF2B5EF4-FFF2-40B4-BE49-F238E27FC236}">
                <a16:creationId xmlns:a16="http://schemas.microsoft.com/office/drawing/2014/main" id="{0CE49830-4D5E-4514-8F41-084641D2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987552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1">
                <a:solidFill>
                  <a:srgbClr val="0069BE"/>
                </a:solidFill>
                <a:latin typeface="Aptos"/>
                <a:ea typeface="Aptos"/>
                <a:cs typeface="Aptos"/>
              </a:defRPr>
            </a:pPr>
            <a:r>
              <a:t>REFERENCES &amp; DELIVERY APPROACH</a:t>
            </a:r>
          </a:p>
        </p:txBody>
      </p:sp>
    </p:spTree>
    <p:extLst>
      <p:ext uri="{BB962C8B-B14F-4D97-AF65-F5344CB8AC3E}">
        <p14:creationId xmlns:p14="http://schemas.microsoft.com/office/powerpoint/2010/main" val="27208133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2026-10-05T17:49:35.7020000Z</dcterms:created>
  <dcterms:modified xsi:type="dcterms:W3CDTF">2026-10-05T17:49:35.7020000Z</dcterms:modified>
</coreProperties>
</file>